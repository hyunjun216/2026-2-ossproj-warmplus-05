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Jua" panose="020B0600000101010101" charset="-127"/>
      <p:regular r:id="rId26"/>
    </p:embeddedFont>
    <p:embeddedFont>
      <p:font typeface="Arimo" panose="020B0600000101010101" charset="0"/>
      <p:regular r:id="rId27"/>
    </p:embeddedFont>
    <p:embeddedFont>
      <p:font typeface="Arimo Bold" panose="020B0600000101010101" charset="0"/>
      <p:regular r:id="rId28"/>
    </p:embeddedFont>
    <p:embeddedFont>
      <p:font typeface="Borsok" panose="02000503000000020002" charset="0"/>
      <p:regular r:id="rId29"/>
    </p:embeddedFont>
    <p:embeddedFont>
      <p:font typeface="Noto Sans" panose="020B0502040504020204" pitchFamily="34" charset="0"/>
      <p:regular r:id="rId30"/>
    </p:embeddedFont>
    <p:embeddedFont>
      <p:font typeface="Noto Sans Bold" panose="020B0600000101010101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380" y="8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오프닝. 페르소나 한지우(27세)의 일상 대화로 시작. “괜찮냐”는 질문에 넘기는 말투가 곧 우리 타깃의 모습이라는 점을 짧게 말하고 바로 데이터로 넘어간다. (가상 시나리오)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오프닝. 페르소나 한지우(27세)의 일상 대화로 시작. “괜찮냐”는 질문에 넘기는 말투가 곧 우리 타깃의 모습이라는 점을 짧게 말하고 바로 데이터로 넘어간다. (가상 시나리오)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 발표의 핵심 페이지. 도움 체계(온기 손편지, 상담 앱, 전문 지원)는 이미 있다. 비어 있는 곳은 ‘도움을 요청하기 전의 마음’. On Letter는 그 구간에 놓이는 첫 번째 그물망.</a:t>
            </a:r>
          </a:p>
          <a:p>
            <a:r>
              <a:rPr lang="en-US"/>
              <a:t>표현 주의: “고위험군으로 가기 전에 막는다”보다 “위기가 된 뒤 발견하는 것이 아니라, 아직 일상을 살아가는 순간에 먼저 닿는 서비스”.</a:t>
            </a:r>
          </a:p>
          <a:p>
            <a:r>
              <a:rPr lang="en-US"/>
              <a:t>오른쪽 ‘기존의 도움’은 경쟁 서비스 비교(기존 11장)를 압축한 것. 기존 서비스는 도움을 찾기로 마음먹은 뒤에 작동한다.</a:t>
            </a:r>
          </a:p>
          <a:p>
            <a:endParaRPr lang="en-US"/>
          </a:p>
          <a:p>
            <a:r>
              <a:rPr lang="en-US"/>
              <a:t>비교 축은 기능이 있고 없고가 아니라, 마음이 힘든 사람에게 최종적으로 어떤 행동을 요구하는가. 기존 서비스는 앱 안에서 마음을 관리하거나 상담받는 것을 목표로 하지만, 우리는 앱을 종착점으로 두지 않는다. 최종 목적지는 실제 사람에게 보내는 손편지.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 발표의 핵심 페이지. 도움 체계(온기 손편지, 상담 앱, 전문 지원)는 이미 있다. 비어 있는 곳은 ‘도움을 요청하기 전의 마음’. On Letter는 그 구간에 놓이는 첫 번째 그물망.</a:t>
            </a:r>
          </a:p>
          <a:p>
            <a:r>
              <a:rPr lang="en-US"/>
              <a:t>표현 주의: “고위험군으로 가기 전에 막는다”보다 “위기가 된 뒤 발견하는 것이 아니라, 아직 일상을 살아가는 순간에 먼저 닿는 서비스”.</a:t>
            </a:r>
          </a:p>
          <a:p>
            <a:r>
              <a:rPr lang="en-US"/>
              <a:t>오른쪽 ‘기존의 도움’은 경쟁 서비스 비교(기존 11장)를 압축한 것. 기존 서비스는 도움을 찾기로 마음먹은 뒤에 작동한다.</a:t>
            </a:r>
          </a:p>
          <a:p>
            <a:endParaRPr lang="en-US"/>
          </a:p>
          <a:p>
            <a:r>
              <a:rPr lang="en-US"/>
              <a:t>비교 축은 기능이 있고 없고가 아니라, 마음이 힘든 사람에게 최종적으로 어떤 행동을 요구하는가. 기존 서비스는 앱 안에서 마음을 관리하거나 상담받는 것을 목표로 하지만, 우리는 앱을 종착점으로 두지 않는다. 최종 목적지는 실제 사람에게 보내는 손편지.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서비스 개요. 3분 마음 질문 → 닮은 실제 편지 → 오목이와 일상 돌봄 → 준비되면 온기로.</a:t>
            </a:r>
          </a:p>
          <a:p>
            <a:r>
              <a:rPr lang="en-US"/>
              <a:t>최종 목표는 앱 체류가 아니라 실제 손편지를 보내는 행동이라고 여기서 한 번 말하고, 구체적인 KPI 수치는 17쪽에서 보여 준다.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서비스 개요. 3분 마음 질문 → 닮은 실제 편지 → 오목이와 일상 돌봄 → 준비되면 온기로.</a:t>
            </a:r>
          </a:p>
          <a:p>
            <a:r>
              <a:rPr lang="en-US"/>
              <a:t>최종 목표는 앱 체류가 아니라 실제 손편지를 보내는 행동이라고 여기서 한 번 말하고, 구체적인 KPI 수치는 17쪽에서 보여 준다.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서비스 개요. 3분 마음 질문 → 닮은 실제 편지 → 오목이와 일상 돌봄 → 준비되면 온기로.</a:t>
            </a:r>
          </a:p>
          <a:p>
            <a:r>
              <a:rPr lang="en-US"/>
              <a:t>최종 목표는 앱 체류가 아니라 실제 손편지를 보내는 행동이라고 여기서 한 번 말하고, 구체적인 KPI 수치는 17쪽에서 보여 준다.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요구사항분석: 타깃이 도움 앞에서 멈추는 이유를 그대로 요구사항으로 바꾸고, 요구사항마다 구현한 기능을 하나씩 연결했다.</a:t>
            </a:r>
          </a:p>
          <a:p>
            <a:r>
              <a:rPr lang="en-US"/>
              <a:t>① 글로 쓰기 부담 → 쓰지 않고 고르기만 하는 마음 질문 6문항(그림·날씨·배터리로 고름).</a:t>
            </a:r>
          </a:p>
          <a:p>
            <a:r>
              <a:rPr lang="en-US"/>
              <a:t>② 답장까지 3~4주 → 고른 고민(8개 주제)과 닮은 실제 온기레터가 바로 도착.</a:t>
            </a:r>
          </a:p>
          <a:p>
            <a:r>
              <a:rPr lang="en-US"/>
              <a:t>③ 다시 올 이유 없음 → 1일 1미션(40개), 오늘의 질문, 오목이 5단계 성장.</a:t>
            </a:r>
          </a:p>
          <a:p>
            <a:r>
              <a:rPr lang="en-US"/>
              <a:t>④ 위기 순간의 고립 → 서버가 AI를 부르기 전에 위기 표현을 감지해 109·1577-0199·1388 안내. 시작 질문 답이 무거우면 편지와 도움 기관을 함께 안내(라벨은 보여주지 않음).</a:t>
            </a:r>
          </a:p>
          <a:p>
            <a:r>
              <a:rPr lang="en-US"/>
              <a:t>마지막 요구사항은 출구: 대화 3번째 메시지에 '손편지로 답장받기' 카드를 한 번만 보여주고 온기우편함 온라인 고민편지로 연결. 심리테스트 3종(공개 척도)은 '진단이 아닌 자기 이해' 요구에 대응.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사이트 구조(시스템 설계): 처음 방문하면 카카오 로그인, 오목이 이름 짓기, '먼저 도착한 편지'(마음 질문 6문항, 닮은 온기레터, 가방에 담기)를 지나 하단 5탭으로 들어온다.</a:t>
            </a:r>
          </a:p>
          <a:p>
            <a:r>
              <a:rPr lang="en-US"/>
              <a:t>5탭: 미션(오늘의 미션, 완료 메모, 월간 캘린더, 성장 연출) / 심리테스트(공개 척도 3종, 결과 저장·공유) / 홈(가운데 기본 탭, 오늘의 질문 → 오목이와 대화) / 온기레터(10개 분류, 164편 → 편지 원문) / 나의 온기(성장 앨범, 마음 기록, 테스트 결과, 가방 속 편지, 도움 기관, 설정).</a:t>
            </a:r>
          </a:p>
          <a:p>
            <a:r>
              <a:rPr lang="en-US"/>
              <a:t>바깥 연결: 온기우편함 온라인 고민편지, 온기레터 구독(스티비), 24시간 도움 기관(109·1577-0199·1388).</a:t>
            </a:r>
          </a:p>
          <a:p>
            <a:r>
              <a:rPr lang="en-US"/>
              <a:t>지금 카카오 로그인은 화면만 있고, Supabase로 연동할 예정이라고 말하기.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전체 시스템 설계: 지금 v1은 휴대폰 브라우저(PWA) 안에서 완결된다. 화면은 Next.js 16, 기록은 저장 어댑터를 통해 기기(localStorage)에 저장하고, 서비스 워커로 오프라인에서도 열린다.</a:t>
            </a:r>
          </a:p>
          <a:p>
            <a:r>
              <a:rPr lang="en-US"/>
              <a:t>서버는 Next.js 안의 /api/chat 하나: ① 요청 검증(256KB, 메시지 40개, 1,000자) ② 위기 표현 감지: 걸리면 AI를 부르지 않고 109·1577-0199·1388 안내 ③ AI 연결부: 지금은 목업 답장, Claude API는 같은 인터페이스로 추가 예정 ④ 답장 스트리밍(30초 제한).</a:t>
            </a:r>
          </a:p>
          <a:p>
            <a:r>
              <a:rPr lang="en-US"/>
              <a:t>바깥 연결: 스티비 공개 API에서 온기레터 164편을 동기화 스크립트로 받아 앱에 포함, 온기우편함은 온라인 고민편지 페이지로 링크 연결(API 연동 아님).</a:t>
            </a:r>
          </a:p>
          <a:p>
            <a:r>
              <a:rPr lang="en-US"/>
              <a:t>예정: Supabase 카카오 로그인, Supabase DB(저장 어댑터만 교체), Claude API. 갈아 끼우는 구조라 화면 코드는 거의 그대로 둔다.</a:t>
            </a:r>
          </a:p>
          <a:p>
            <a:r>
              <a:rPr lang="en-US"/>
              <a:t>운영·안전: 문제가 생기면 환경변수 하나(LLM_PROVIDER)로 AI를 목업으로 되돌릴 수 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구현계획: 기술 스택은 Next.js 16(App Router), React 19, TypeScript, Tailwind CSS v4. 서버는 Next.js Route Handler(/api/chat) 하나, 테스트는 Vitest 자동 테스트 290여 개, PWA(매니페스트·서비스 워커), 배포는 Vercel.</a:t>
            </a:r>
          </a:p>
          <a:p>
            <a:r>
              <a:rPr lang="en-US"/>
              <a:t>1단계(완료): 시작 화면(먼저 도착한 편지), 5탭, 미션·성장, 심리테스트 3종, 온기레터 164편, 위기 감지, 시연 모드.</a:t>
            </a:r>
          </a:p>
          <a:p>
            <a:r>
              <a:rPr lang="en-US"/>
              <a:t>2단계: AI 대화. 지금은 목업 답장이고, 같은 인터페이스에 Claude 구현체만 추가하면 된다. 오목이 말투 프롬프트는 작성 완료.</a:t>
            </a:r>
          </a:p>
          <a:p>
            <a:r>
              <a:rPr lang="en-US"/>
              <a:t>3단계: 계정·기록. Supabase 카카오 로그인 + 저장 어댑터를 기기 저장에서 DB로 교체해 기기가 바뀌어도 기록 유지.</a:t>
            </a:r>
          </a:p>
          <a:p>
            <a:r>
              <a:rPr lang="en-US"/>
              <a:t>4단계: Vercel 배포 + KPI 이벤트 기록(시작 화면 진입, 질문 완료, 편지 열람, 가방 담기, 고민편지 클릭), 온기 시연·피드백 후 파일럿.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[발표 대본, 약 40초]</a:t>
            </a:r>
          </a:p>
          <a:p>
            <a:r>
              <a:rPr lang="en-US"/>
              <a:t>오목이, 미션, 심리테스트는 그냥 만든 게 아니라 근거를 보고 설계했습니다.</a:t>
            </a:r>
          </a:p>
          <a:p>
            <a:r>
              <a:rPr lang="en-US"/>
              <a:t>먼저 오목이는 커플 앱 썸원에서 힌트를 얻었어요. 매일 질문에 답하면 캐릭터가 같이 자라는 방식인데, 이게 매일 다시 들어올 이유가 되거든요. 그래서 미션을 할수록 오목이가 다섯 단계로 자라게 했습니다.</a:t>
            </a:r>
          </a:p>
          <a:p>
            <a:r>
              <a:rPr lang="en-US"/>
              <a:t>그런데 정신건강 앱은 설치하고 2주 안에 대부분 그만둔다는 연구가 있어서, 처음 미션 3개, 7개만 해도 오목이가 바로 자라게 했습니다.</a:t>
            </a:r>
          </a:p>
          <a:p>
            <a:r>
              <a:rPr lang="en-US"/>
              <a:t>심리테스트는 누구나 쓸 수 있게 공개된 검증 척도 세 가지를 골라, 한국어판으로 옮겨 넣을 예정입니다.</a:t>
            </a:r>
          </a:p>
          <a:p>
            <a:r>
              <a:rPr lang="en-US"/>
              <a:t>다만 캐릭터를 키우는 것 자체가 치료 효과를 높이지는 않는다는 연구도 있어서, 오목이는 치료 도구가 아니라 다시 찾아오게 하는 장치로만 보고, 재방문과 온기우편함 연결로 검증하려고 합니다.</a:t>
            </a:r>
          </a:p>
          <a:p>
            <a:endParaRPr lang="en-US"/>
          </a:p>
          <a:p>
            <a:r>
              <a:rPr lang="en-US"/>
              <a:t>[질문 대비 메모]</a:t>
            </a:r>
          </a:p>
          <a:p>
            <a:r>
              <a:rPr lang="en-US"/>
              <a:t>① 썸원(SumOne): 연인이 매일 질문 1개에 답하면 캐릭터(에그몬)가 자라는 커플 앱. 오목이 5단계(알, 아기새, 편지 오목이, 우체부 오목이, 온기 오목이 / 누적 미션 3·7·15·30개)에 반영.</a:t>
            </a:r>
          </a:p>
          <a:p>
            <a:r>
              <a:rPr lang="en-US"/>
              <a:t>② Baumel et al. (2019, JMIR): 정신건강 앱 실제 사용 데이터 분석, 15일 유지율 중앙값 3.9%. 초반(미션 3·7개) 성장 보상과 KPI D7 재방문 목표 15%의 근거.</a:t>
            </a:r>
          </a:p>
          <a:p>
            <a:r>
              <a:rPr lang="en-US"/>
              <a:t>③ '왜 최종 단계가 미션 30개냐'는 질문이 나오면: Deady et al. (2022, Psychological Medicine), 30일 행동활성화 앱을 쓴 비임상 직장인 무작위대조시험, 12개월 우울 발생 3.5% 대 8.0%. 단, '30일이면 습관이 완성된다'고 말하지 않기(습관 형성 중앙값 59~66일, Singh et al., 2024).</a:t>
            </a:r>
          </a:p>
          <a:p>
            <a:r>
              <a:rPr lang="en-US"/>
              <a:t>④ 척도 라이선스: Brief COPE(원작자가 자유 사용 허용), WHO-5(CC BY-NC-SA 3.0 IGO), 로젠버그 자존감 척도(연구·교육 목적 자유 사용 허용). 구현 시 검증된 한국어판 문항 사용.</a:t>
            </a:r>
          </a:p>
          <a:p>
            <a:r>
              <a:rPr lang="en-US"/>
              <a:t>⑤ Six et al. (2021): 우울 대상 정신건강 앱 38개 연구 메타분석, 게임화 요소 자체의 추가 효과는 유의하지 않음. 그래서 성장은 치료 효과가 아니라 재방문율과 온기우편함 전환율로 검증.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선행 서비스 조사(평가표 '선행기술조사' 항목). 온기우편함, 마인드카페, 트로스트, 썸원의 공식 홈페이지·앱 마켓 소개(2026.10)를 보고 기능을 비교했다.</a:t>
            </a:r>
          </a:p>
          <a:p>
            <a:r>
              <a:rPr lang="en-US"/>
              <a:t>각 서비스는 일부 기능만 가진다: 온기우편함은 사람의 손편지(대신 고민을 직접 써야 하고 답장까지 3~4주), 마인드카페·트로스트는 심리검사·챗봇·유료 상담, 썸원은 연인이 매일 질문에 답하며 캐릭터(에그몬)를 함께 키우는 커플 앱.</a:t>
            </a:r>
          </a:p>
          <a:p>
            <a:r>
              <a:rPr lang="en-US"/>
              <a:t>먼저 도착한 편지는 쓰지 않고 고르는 마음 질문, 바로 도착하는 실제 손편지, 오목이 성장, 1일 1미션, AI 대화를 한곳에 모으고, 마지막을 실제 손편지(온기우편함)로 잇는다. AI 대화는 v1에서 목업이고 Claude 연동 예정.</a:t>
            </a:r>
          </a:p>
          <a:p>
            <a:r>
              <a:rPr lang="en-US"/>
              <a:t>전문 상담·진단은 일부러 하지 않는다. 필요하면 109 등 전문기관으로 연결.</a:t>
            </a:r>
          </a:p>
          <a:p>
            <a:r>
              <a:rPr lang="en-US"/>
              <a:t>다음 장 RESEARCH에서 이 설계를 뒷받침하는 연구 근거로 넘어간다.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평가표의 '최종 목표를 구체적이고 명확하게 설명했는가' 항목에 대응. 청년 마음건강 증진 같은 추상적 목표 대신 측정 가능한 행동으로 정의했다. 체류 시간보다 실제 온기 행동 전환율이 핵심 KPI.</a:t>
            </a:r>
          </a:p>
          <a:p>
            <a:r>
              <a:rPr lang="en-US"/>
              <a:t>목표는 첫 파일럿 기준: 질문 완료율 60%, 편지 열람률 50%, D7 재방문율 15%, '고민편지 보내기' 클릭률 5%. 정신건강 앱의 15일 유지율 중앙값이 3.9%라는 분석(Baumel et al., 2019)을 참고해 재방문 목표를 보수적으로 잡았다. 측정은 배포 후 익명 이벤트 기록(예정).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발표에 쓴 수치의 출처. 2쪽: 국립정신건강센터 2024 결과보고서(30대 79.9%, 30대 여성 87.3%). 4쪽 35,000통: 조선일보 2026.06 온기 인터뷰(2025년 답장 약 3만 5천 통, 누적 7만 2,485통, 우편함 116곳). 5쪽 인스타 80.9%: 언론진흥재단 2024 소셜미디어 이용자 조사. 17쪽 KPI: Baumel 2019(15일 유지율 중앙값 3.9%).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1 (질의응답용). 사용자가 할 수 있는 일(마음 질문, 닮은 편지 받기·가방에 담기, 오목이와 대화, 미션, 심리테스트, 온기우편함 이동)과 위기 표현이 감지됐을 때의 도움 기관 안내를 한 장에 정리했다. 기능 범위를 물으면 이 장으로 답한다. 원본은 수행계획서 그림 3.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2 (질의응답용). 대화 한 번의 처리 순서: 메시지 입력(1,000자 이내) → 기기 저장 → /api/chat에 질문과 최근 20개 전송(30초 제한) → ① 크기·형식 검증 → ② 마지막 사용자 메시지 위기 표현 검사. 위기 표현이 있으면 AI를 부르지 않고 위로 문구와 도움 기관 카드를 보낸다. 없으면 ③ 오목이 페르소나로 답장 스트리밍(지금은 목업, Claude 예정) → ④ 기기에 저장. 내 메시지 3개째에 손편지 연결 카드를 한 번 보여 준다.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3 (질의응답용). 서비스 전체 흐름을 한 장의 플로 차트로 정리했다. 첫 방문 여부에 따라 먼저 도착한 편지(마음 질문 → 닮은 편지 → 가방에 담기)로 가거나 바로 홈으로 간다. 대화에서는 위기 표현이 감지되면 도움 기관 안내로 분기하고, 준비가 되면 온기우편함 온라인 고민편지로 연결한다. 원본은 수행계획서 그림 6.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4 (질의응답용). 추진 일정 간트차트(수행계획서 그림 7). 역할 분담: 조수아 기획·디자인·온기 소통, 전동현 프론트엔드·서버 구현, 박현준 리서치·안전 검증·데이터 분석(KPI)·QA. 세부 담당은 수행계획서 2.5 표와 같다.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.jpe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2.jpe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303020" y="754380"/>
            <a:ext cx="10972800" cy="411480"/>
            <a:chOff x="0" y="0"/>
            <a:chExt cx="146304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9A744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Team Warm+ ·  카카오 테크포임팩트 × 사단법인 온기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9122" y="572833"/>
            <a:ext cx="15508208" cy="5200650"/>
            <a:chOff x="0" y="0"/>
            <a:chExt cx="20677610" cy="6934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77611" cy="6934200"/>
            </a:xfrm>
            <a:custGeom>
              <a:avLst/>
              <a:gdLst/>
              <a:ahLst/>
              <a:cxnLst/>
              <a:rect l="l" t="t" r="r" b="b"/>
              <a:pathLst>
                <a:path w="20677611" h="6934200">
                  <a:moveTo>
                    <a:pt x="0" y="0"/>
                  </a:moveTo>
                  <a:lnTo>
                    <a:pt x="20677611" y="0"/>
                  </a:lnTo>
                  <a:lnTo>
                    <a:pt x="20677611" y="6934200"/>
                  </a:lnTo>
                  <a:lnTo>
                    <a:pt x="0" y="693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5" r="20400" b="286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0677610" cy="6962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0"/>
                </a:lnSpc>
              </a:pPr>
              <a:r>
                <a:rPr lang="en-US" sz="19500">
                  <a:solidFill>
                    <a:srgbClr val="FFF9EA"/>
                  </a:solidFill>
                  <a:latin typeface="Borsok"/>
                  <a:ea typeface="Borsok"/>
                  <a:cs typeface="Borsok"/>
                  <a:sym typeface="Borsok"/>
                </a:rPr>
                <a:t>On</a:t>
              </a:r>
              <a:r>
                <a:rPr lang="en-US" sz="19500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5C83A">
                          <a:alpha val="100000"/>
                        </a:srgbClr>
                      </a:gs>
                    </a:gsLst>
                    <a:lin ang="0"/>
                  </a:gradFill>
                  <a:latin typeface="Borsok"/>
                  <a:ea typeface="Borsok"/>
                  <a:cs typeface="Borsok"/>
                  <a:sym typeface="Borsok"/>
                </a:rPr>
                <a:t> </a:t>
              </a:r>
              <a:r>
                <a:rPr lang="en-US" sz="19500">
                  <a:solidFill>
                    <a:srgbClr val="F5C83A"/>
                  </a:solidFill>
                  <a:latin typeface="Borsok"/>
                  <a:ea typeface="Borsok"/>
                  <a:cs typeface="Borsok"/>
                  <a:sym typeface="Borsok"/>
                </a:rPr>
                <a:t>Letter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3020" y="4098849"/>
            <a:ext cx="8288419" cy="822960"/>
            <a:chOff x="0" y="0"/>
            <a:chExt cx="11051225" cy="1097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51225" cy="1097280"/>
            </a:xfrm>
            <a:custGeom>
              <a:avLst/>
              <a:gdLst/>
              <a:ahLst/>
              <a:cxnLst/>
              <a:rect l="l" t="t" r="r" b="b"/>
              <a:pathLst>
                <a:path w="11051225" h="1097280">
                  <a:moveTo>
                    <a:pt x="0" y="0"/>
                  </a:moveTo>
                  <a:lnTo>
                    <a:pt x="11051225" y="0"/>
                  </a:lnTo>
                  <a:lnTo>
                    <a:pt x="11051225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r="-32387" b="-2098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1051225" cy="120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0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꺼내지</a:t>
              </a:r>
              <a:r>
                <a:rPr lang="en-US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0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못한</a:t>
              </a:r>
              <a:r>
                <a:rPr lang="en-US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0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마음에</a:t>
              </a:r>
              <a:r>
                <a:rPr lang="en-US" sz="40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,</a:t>
              </a:r>
              <a:r>
                <a:rPr lang="en-US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36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편지가</a:t>
              </a:r>
              <a:r>
                <a:rPr lang="en-US" sz="20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0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먼저</a:t>
              </a:r>
              <a:r>
                <a:rPr lang="en-US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0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닿습니다</a:t>
              </a:r>
              <a:endParaRPr lang="en-US" sz="4000" dirty="0">
                <a:solidFill>
                  <a:srgbClr val="4A3520"/>
                </a:solidFill>
                <a:latin typeface="Jua"/>
                <a:ea typeface="Jua"/>
                <a:cs typeface="Jua"/>
                <a:sym typeface="Jua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812421" y="4183380"/>
            <a:ext cx="3968171" cy="8098308"/>
          </a:xfrm>
          <a:custGeom>
            <a:avLst/>
            <a:gdLst/>
            <a:ahLst/>
            <a:cxnLst/>
            <a:rect l="l" t="t" r="r" b="b"/>
            <a:pathLst>
              <a:path w="3968171" h="8098308">
                <a:moveTo>
                  <a:pt x="0" y="0"/>
                </a:moveTo>
                <a:lnTo>
                  <a:pt x="3968170" y="0"/>
                </a:lnTo>
                <a:lnTo>
                  <a:pt x="3968170" y="8098308"/>
                </a:lnTo>
                <a:lnTo>
                  <a:pt x="0" y="8098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8860026" y="4921809"/>
            <a:ext cx="3606341" cy="7359879"/>
          </a:xfrm>
          <a:custGeom>
            <a:avLst/>
            <a:gdLst/>
            <a:ahLst/>
            <a:cxnLst/>
            <a:rect l="l" t="t" r="r" b="b"/>
            <a:pathLst>
              <a:path w="3606341" h="7359879">
                <a:moveTo>
                  <a:pt x="0" y="0"/>
                </a:moveTo>
                <a:lnTo>
                  <a:pt x="3606341" y="0"/>
                </a:lnTo>
                <a:lnTo>
                  <a:pt x="3606341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733520" y="9601200"/>
            <a:ext cx="822960" cy="411480"/>
            <a:chOff x="0" y="0"/>
            <a:chExt cx="109728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97280" y="1108710"/>
            <a:ext cx="16092983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1"/>
              </a:lnSpc>
            </a:pPr>
            <a:r>
              <a:rPr lang="en-US" sz="4800" b="1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“요즘 괜찮아?”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71600" y="2057400"/>
            <a:ext cx="15544343" cy="548640"/>
            <a:chOff x="0" y="0"/>
            <a:chExt cx="20725790" cy="731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25791" cy="731520"/>
            </a:xfrm>
            <a:custGeom>
              <a:avLst/>
              <a:gdLst/>
              <a:ahLst/>
              <a:cxnLst/>
              <a:rect l="l" t="t" r="r" b="b"/>
              <a:pathLst>
                <a:path w="20725791" h="731520">
                  <a:moveTo>
                    <a:pt x="0" y="0"/>
                  </a:moveTo>
                  <a:lnTo>
                    <a:pt x="20725791" y="0"/>
                  </a:lnTo>
                  <a:lnTo>
                    <a:pt x="207257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2059" b="-5020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072579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그 물음에, 우리는 늘 이렇게 답합니다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00622" y="3488055"/>
            <a:ext cx="4418263" cy="1006602"/>
            <a:chOff x="0" y="0"/>
            <a:chExt cx="5891017" cy="13421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91018" cy="1342136"/>
            </a:xfrm>
            <a:custGeom>
              <a:avLst/>
              <a:gdLst/>
              <a:ahLst/>
              <a:cxnLst/>
              <a:rect l="l" t="t" r="r" b="b"/>
              <a:pathLst>
                <a:path w="5891018" h="1342136">
                  <a:moveTo>
                    <a:pt x="0" y="671068"/>
                  </a:moveTo>
                  <a:cubicBezTo>
                    <a:pt x="0" y="300482"/>
                    <a:pt x="267835" y="0"/>
                    <a:pt x="598158" y="0"/>
                  </a:cubicBezTo>
                  <a:lnTo>
                    <a:pt x="5292859" y="0"/>
                  </a:lnTo>
                  <a:cubicBezTo>
                    <a:pt x="5623182" y="0"/>
                    <a:pt x="5891018" y="300482"/>
                    <a:pt x="5891018" y="671068"/>
                  </a:cubicBezTo>
                  <a:cubicBezTo>
                    <a:pt x="5891018" y="1041654"/>
                    <a:pt x="5623182" y="1342136"/>
                    <a:pt x="5292859" y="1342136"/>
                  </a:cubicBezTo>
                  <a:lnTo>
                    <a:pt x="598158" y="1342136"/>
                  </a:lnTo>
                  <a:cubicBezTo>
                    <a:pt x="267835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00622" y="3497580"/>
            <a:ext cx="4408738" cy="987552"/>
            <a:chOff x="0" y="0"/>
            <a:chExt cx="5878317" cy="13167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78318" cy="1316736"/>
            </a:xfrm>
            <a:custGeom>
              <a:avLst/>
              <a:gdLst/>
              <a:ahLst/>
              <a:cxnLst/>
              <a:rect l="l" t="t" r="r" b="b"/>
              <a:pathLst>
                <a:path w="5878318" h="1316736">
                  <a:moveTo>
                    <a:pt x="0" y="0"/>
                  </a:moveTo>
                  <a:lnTo>
                    <a:pt x="5878318" y="0"/>
                  </a:lnTo>
                  <a:lnTo>
                    <a:pt x="587831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r="-11999" b="-474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5878317" cy="13072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요즘 많이 지쳐 보여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85035" y="5133975"/>
            <a:ext cx="3996690" cy="1006602"/>
            <a:chOff x="0" y="0"/>
            <a:chExt cx="5328920" cy="13421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28920" cy="1342136"/>
            </a:xfrm>
            <a:custGeom>
              <a:avLst/>
              <a:gdLst/>
              <a:ahLst/>
              <a:cxnLst/>
              <a:rect l="l" t="t" r="r" b="b"/>
              <a:pathLst>
                <a:path w="5328920" h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4657852" y="0"/>
                  </a:lnTo>
                  <a:cubicBezTo>
                    <a:pt x="5028438" y="0"/>
                    <a:pt x="5328920" y="300482"/>
                    <a:pt x="5328920" y="671068"/>
                  </a:cubicBezTo>
                  <a:cubicBezTo>
                    <a:pt x="5328920" y="1041654"/>
                    <a:pt x="5028438" y="1342136"/>
                    <a:pt x="4657852" y="1342136"/>
                  </a:cubicBezTo>
                  <a:lnTo>
                    <a:pt x="671068" y="1342136"/>
                  </a:ln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94560" y="5143500"/>
            <a:ext cx="3977640" cy="987552"/>
            <a:chOff x="0" y="0"/>
            <a:chExt cx="5303520" cy="13167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03520" cy="1316736"/>
            </a:xfrm>
            <a:custGeom>
              <a:avLst/>
              <a:gdLst/>
              <a:ahLst/>
              <a:cxnLst/>
              <a:rect l="l" t="t" r="r" b="b"/>
              <a:pathLst>
                <a:path w="5303520" h="1316736">
                  <a:moveTo>
                    <a:pt x="0" y="0"/>
                  </a:moveTo>
                  <a:lnTo>
                    <a:pt x="5303520" y="0"/>
                  </a:lnTo>
                  <a:lnTo>
                    <a:pt x="5303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81" b="-2848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5303520" cy="13072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진짜 괜찮은 거 맞아?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991975" y="3213735"/>
            <a:ext cx="4956810" cy="1006602"/>
            <a:chOff x="0" y="0"/>
            <a:chExt cx="6609080" cy="13421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9080" cy="1342136"/>
            </a:xfrm>
            <a:custGeom>
              <a:avLst/>
              <a:gdLst/>
              <a:ahLst/>
              <a:cxnLst/>
              <a:rect l="l" t="t" r="r" b="b"/>
              <a:pathLst>
                <a:path w="6609080" h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5938012" y="0"/>
                  </a:lnTo>
                  <a:cubicBezTo>
                    <a:pt x="6308598" y="0"/>
                    <a:pt x="6609080" y="300482"/>
                    <a:pt x="6609080" y="671068"/>
                  </a:cubicBezTo>
                  <a:cubicBezTo>
                    <a:pt x="6609080" y="1041654"/>
                    <a:pt x="6308598" y="1342136"/>
                    <a:pt x="5938012" y="1342136"/>
                  </a:cubicBezTo>
                  <a:lnTo>
                    <a:pt x="671068" y="1342136"/>
                  </a:ln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EE500"/>
            </a:solidFill>
            <a:ln w="19050" cap="sq">
              <a:solidFill>
                <a:srgbClr val="FEE5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001500" y="3223260"/>
            <a:ext cx="4937760" cy="987552"/>
            <a:chOff x="0" y="0"/>
            <a:chExt cx="6583680" cy="13167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583680" cy="1316736"/>
            </a:xfrm>
            <a:custGeom>
              <a:avLst/>
              <a:gdLst/>
              <a:ahLst/>
              <a:cxnLst/>
              <a:rect l="l" t="t" r="r" b="b"/>
              <a:pathLst>
                <a:path w="6583680" h="1316736">
                  <a:moveTo>
                    <a:pt x="0" y="0"/>
                  </a:moveTo>
                  <a:lnTo>
                    <a:pt x="6583680" y="0"/>
                  </a:lnTo>
                  <a:lnTo>
                    <a:pt x="6583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6583680" cy="13072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이 정도는 다들 그렇지 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66295" y="4722495"/>
            <a:ext cx="4819650" cy="1006602"/>
            <a:chOff x="0" y="0"/>
            <a:chExt cx="6426200" cy="13421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26200" cy="1342136"/>
            </a:xfrm>
            <a:custGeom>
              <a:avLst/>
              <a:gdLst/>
              <a:ahLst/>
              <a:cxnLst/>
              <a:rect l="l" t="t" r="r" b="b"/>
              <a:pathLst>
                <a:path w="6426200" h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5755132" y="0"/>
                  </a:lnTo>
                  <a:cubicBezTo>
                    <a:pt x="6125718" y="0"/>
                    <a:pt x="6426200" y="300482"/>
                    <a:pt x="6426200" y="671068"/>
                  </a:cubicBezTo>
                  <a:cubicBezTo>
                    <a:pt x="6426200" y="1041654"/>
                    <a:pt x="6125718" y="1342136"/>
                    <a:pt x="5755132" y="1342136"/>
                  </a:cubicBezTo>
                  <a:lnTo>
                    <a:pt x="671068" y="1342136"/>
                  </a:ln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EE500"/>
            </a:solidFill>
            <a:ln w="19050" cap="sq">
              <a:solidFill>
                <a:srgbClr val="FEE5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75820" y="4732020"/>
            <a:ext cx="4800600" cy="987552"/>
            <a:chOff x="0" y="0"/>
            <a:chExt cx="6400800" cy="13167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00800" cy="1316736"/>
            </a:xfrm>
            <a:custGeom>
              <a:avLst/>
              <a:gdLst/>
              <a:ahLst/>
              <a:cxnLst/>
              <a:rect l="l" t="t" r="r" b="b"/>
              <a:pathLst>
                <a:path w="6400800" h="1316736">
                  <a:moveTo>
                    <a:pt x="0" y="0"/>
                  </a:moveTo>
                  <a:lnTo>
                    <a:pt x="6400800" y="0"/>
                  </a:lnTo>
                  <a:lnTo>
                    <a:pt x="6400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718" b="-4471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6400800" cy="13072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나보다 힘든 사람도 많잖아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 rot="45600">
            <a:off x="10613860" y="8518741"/>
            <a:ext cx="2154746" cy="0"/>
          </a:xfrm>
          <a:prstGeom prst="line">
            <a:avLst/>
          </a:prstGeom>
          <a:ln w="19050" cap="rnd">
            <a:solidFill>
              <a:srgbClr val="F5C83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2808515" y="8020202"/>
            <a:ext cx="4280535" cy="1016127"/>
            <a:chOff x="0" y="0"/>
            <a:chExt cx="5707380" cy="13548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707380" cy="1354836"/>
            </a:xfrm>
            <a:custGeom>
              <a:avLst/>
              <a:gdLst/>
              <a:ahLst/>
              <a:cxnLst/>
              <a:rect l="l" t="t" r="r" b="b"/>
              <a:pathLst>
                <a:path w="5707380" h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5029962" y="0"/>
                  </a:lnTo>
                  <a:cubicBezTo>
                    <a:pt x="5404104" y="0"/>
                    <a:pt x="5707380" y="303276"/>
                    <a:pt x="5707380" y="677418"/>
                  </a:cubicBezTo>
                  <a:cubicBezTo>
                    <a:pt x="5707380" y="1051560"/>
                    <a:pt x="5404104" y="1354836"/>
                    <a:pt x="5029962" y="1354836"/>
                  </a:cubicBezTo>
                  <a:lnTo>
                    <a:pt x="677418" y="1354836"/>
                  </a:ln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8E7"/>
            </a:solidFill>
            <a:ln w="28575" cap="sq">
              <a:solidFill>
                <a:srgbClr val="F5C83A"/>
              </a:solidFill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822803" y="8034490"/>
            <a:ext cx="4251960" cy="987552"/>
            <a:chOff x="0" y="0"/>
            <a:chExt cx="5669280" cy="13167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69280" cy="1316736"/>
            </a:xfrm>
            <a:custGeom>
              <a:avLst/>
              <a:gdLst/>
              <a:ahLst/>
              <a:cxnLst/>
              <a:rect l="l" t="t" r="r" b="b"/>
              <a:pathLst>
                <a:path w="5669280" h="1316736">
                  <a:moveTo>
                    <a:pt x="0" y="0"/>
                  </a:moveTo>
                  <a:lnTo>
                    <a:pt x="5669280" y="0"/>
                  </a:lnTo>
                  <a:lnTo>
                    <a:pt x="5669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93" b="-3389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5669280" cy="13072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사실 나 많이 힘들어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822803" y="7458418"/>
            <a:ext cx="4251960" cy="411480"/>
            <a:chOff x="0" y="0"/>
            <a:chExt cx="5669280" cy="548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69280" cy="548640"/>
            </a:xfrm>
            <a:custGeom>
              <a:avLst/>
              <a:gdLst/>
              <a:ahLst/>
              <a:cxnLst/>
              <a:rect l="l" t="t" r="r" b="b"/>
              <a:pathLst>
                <a:path w="5669280" h="54864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1345" b="-15134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5669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끝내 보내지 못한 한 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71600" y="9528048"/>
            <a:ext cx="15544343" cy="548640"/>
            <a:chOff x="0" y="0"/>
            <a:chExt cx="2072579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0725791" cy="731520"/>
            </a:xfrm>
            <a:custGeom>
              <a:avLst/>
              <a:gdLst/>
              <a:ahLst/>
              <a:cxnLst/>
              <a:rect l="l" t="t" r="r" b="b"/>
              <a:pathLst>
                <a:path w="20725791" h="731520">
                  <a:moveTo>
                    <a:pt x="0" y="0"/>
                  </a:moveTo>
                  <a:lnTo>
                    <a:pt x="20725791" y="0"/>
                  </a:lnTo>
                  <a:lnTo>
                    <a:pt x="207257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2059" b="-5020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2072579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괜찮다는 말 뒤에, </a:t>
              </a:r>
              <a:r>
                <a:rPr lang="en-US" sz="240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말하지 못한 마음</a:t>
              </a: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이 조용히 쌓입니다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7491136" y="2729603"/>
            <a:ext cx="3191428" cy="6674882"/>
          </a:xfrm>
          <a:custGeom>
            <a:avLst/>
            <a:gdLst/>
            <a:ahLst/>
            <a:cxnLst/>
            <a:rect l="l" t="t" r="r" b="b"/>
            <a:pathLst>
              <a:path w="3191428" h="6674882">
                <a:moveTo>
                  <a:pt x="0" y="0"/>
                </a:moveTo>
                <a:lnTo>
                  <a:pt x="3191428" y="0"/>
                </a:lnTo>
                <a:lnTo>
                  <a:pt x="3191428" y="6674882"/>
                </a:lnTo>
                <a:lnTo>
                  <a:pt x="0" y="667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9429" y="363474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DESK RESEARCH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6257" y="1145286"/>
            <a:ext cx="16915943" cy="1645920"/>
            <a:chOff x="0" y="0"/>
            <a:chExt cx="22554590" cy="21945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554591" cy="2194560"/>
            </a:xfrm>
            <a:custGeom>
              <a:avLst/>
              <a:gdLst/>
              <a:ahLst/>
              <a:cxnLst/>
              <a:rect l="l" t="t" r="r" b="b"/>
              <a:pathLst>
                <a:path w="22554591" h="2194560">
                  <a:moveTo>
                    <a:pt x="0" y="0"/>
                  </a:moveTo>
                  <a:lnTo>
                    <a:pt x="22554591" y="0"/>
                  </a:lnTo>
                  <a:lnTo>
                    <a:pt x="2255459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0257" b="-1502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2554590" cy="2270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20·30대 네 명 중 세 명 이상이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지난 1년 마음의 어려움</a:t>
              </a: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을 겪었습니다</a:t>
              </a:r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76" y="3158130"/>
            <a:ext cx="5678424" cy="5678424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327478" y="5277252"/>
            <a:ext cx="4732020" cy="1067284"/>
            <a:chOff x="0" y="0"/>
            <a:chExt cx="6309360" cy="14230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09360" cy="1423045"/>
            </a:xfrm>
            <a:custGeom>
              <a:avLst/>
              <a:gdLst/>
              <a:ahLst/>
              <a:cxnLst/>
              <a:rect l="l" t="t" r="r" b="b"/>
              <a:pathLst>
                <a:path w="6309360" h="1423045">
                  <a:moveTo>
                    <a:pt x="0" y="0"/>
                  </a:moveTo>
                  <a:lnTo>
                    <a:pt x="6309360" y="0"/>
                  </a:lnTo>
                  <a:lnTo>
                    <a:pt x="6309360" y="1423045"/>
                  </a:lnTo>
                  <a:lnTo>
                    <a:pt x="0" y="1423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98" b="-3458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6309360" cy="1423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78.5%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7478" y="6237372"/>
            <a:ext cx="4732020" cy="548640"/>
            <a:chOff x="0" y="0"/>
            <a:chExt cx="630936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8058" b="-11805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20대·30대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3417" y="9662922"/>
            <a:ext cx="14401800" cy="356616"/>
            <a:chOff x="0" y="0"/>
            <a:chExt cx="19202400" cy="4754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202400" cy="475488"/>
            </a:xfrm>
            <a:custGeom>
              <a:avLst/>
              <a:gdLst/>
              <a:ahLst/>
              <a:cxnLst/>
              <a:rect l="l" t="t" r="r" b="b"/>
              <a:pathLst>
                <a:path w="19202400" h="475488">
                  <a:moveTo>
                    <a:pt x="0" y="0"/>
                  </a:moveTo>
                  <a:lnTo>
                    <a:pt x="19202400" y="0"/>
                  </a:lnTo>
                  <a:lnTo>
                    <a:pt x="19202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6895" b="-73689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9202400" cy="485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출처: 국립정신건강센터, 2024 국민 정신건강 지식 및 태도 조사 (전국 15~69세 3,000명, 연령대별 결과)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126139" y="3837072"/>
            <a:ext cx="4937760" cy="1645920"/>
            <a:chOff x="0" y="0"/>
            <a:chExt cx="6583680" cy="21945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658368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519"/>
                </a:lnSpc>
              </a:pPr>
              <a:r>
                <a:rPr lang="en-US" sz="96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73.6%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69639" y="4083960"/>
            <a:ext cx="5486400" cy="548640"/>
            <a:chOff x="0" y="0"/>
            <a:chExt cx="73152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73152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지난 1년 정신건강 문제 경험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69639" y="4742328"/>
            <a:ext cx="438912" cy="438912"/>
            <a:chOff x="0" y="0"/>
            <a:chExt cx="585216" cy="585216"/>
          </a:xfrm>
        </p:grpSpPr>
        <p:sp>
          <p:nvSpPr>
            <p:cNvPr id="26" name="Freeform 26" descr="/home/claude/v3/icons/trend_amber.png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818279" y="4687464"/>
            <a:ext cx="4800600" cy="548640"/>
            <a:chOff x="0" y="0"/>
            <a:chExt cx="640080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6400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2022년 63.9%에서 +9.7%p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94719" y="5482992"/>
            <a:ext cx="10424160" cy="411480"/>
            <a:chOff x="0" y="0"/>
            <a:chExt cx="1389888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898880" cy="548640"/>
            </a:xfrm>
            <a:custGeom>
              <a:avLst/>
              <a:gdLst/>
              <a:ahLst/>
              <a:cxnLst/>
              <a:rect l="l" t="t" r="r" b="b"/>
              <a:pathLst>
                <a:path w="13898880" h="548640">
                  <a:moveTo>
                    <a:pt x="0" y="0"/>
                  </a:moveTo>
                  <a:lnTo>
                    <a:pt x="13898880" y="0"/>
                  </a:lnTo>
                  <a:lnTo>
                    <a:pt x="13898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620" b="-4436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1389888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20대 </a:t>
              </a:r>
              <a:r>
                <a:rPr lang="en-US" sz="1725" b="1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76.6%</a:t>
              </a:r>
              <a:r>
                <a:rPr lang="en-US" sz="17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 · 30대 </a:t>
              </a:r>
              <a:r>
                <a:rPr lang="en-US" sz="1725" b="1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79.9%</a:t>
              </a:r>
              <a:r>
                <a:rPr lang="en-US" sz="17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가 스트레스 · 우울감 · 불안 · 불면 등 조사 항목 중  하나 이상 경험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7185193" y="6364963"/>
            <a:ext cx="10263605" cy="9569"/>
          </a:xfrm>
          <a:prstGeom prst="line">
            <a:avLst/>
          </a:prstGeom>
          <a:ln w="9525" cap="rnd">
            <a:solidFill>
              <a:srgbClr val="EADFC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4" name="Group 34"/>
          <p:cNvGrpSpPr/>
          <p:nvPr/>
        </p:nvGrpSpPr>
        <p:grpSpPr>
          <a:xfrm>
            <a:off x="7126139" y="6717432"/>
            <a:ext cx="4937760" cy="1645920"/>
            <a:chOff x="0" y="0"/>
            <a:chExt cx="6583680" cy="21945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658368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519"/>
                </a:lnSpc>
              </a:pPr>
              <a:r>
                <a:rPr lang="en-US" sz="96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24.9%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269639" y="6964320"/>
            <a:ext cx="5486400" cy="548640"/>
            <a:chOff x="0" y="0"/>
            <a:chExt cx="7315200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73152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정신건강 서비스 이용 방법 인지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221633" y="7622688"/>
            <a:ext cx="438912" cy="438912"/>
            <a:chOff x="0" y="0"/>
            <a:chExt cx="585216" cy="585216"/>
          </a:xfrm>
        </p:grpSpPr>
        <p:sp>
          <p:nvSpPr>
            <p:cNvPr id="41" name="Freeform 41" descr="/home/claude/v3/icons/down_ink.png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818279" y="7567824"/>
            <a:ext cx="4800600" cy="548640"/>
            <a:chOff x="0" y="0"/>
            <a:chExt cx="64008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6400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2022년 27.9%에서 −3.0%p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733520" y="9601200"/>
            <a:ext cx="822960" cy="411480"/>
            <a:chOff x="0" y="0"/>
            <a:chExt cx="109728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33772" y="411480"/>
            <a:ext cx="8229600" cy="480060"/>
            <a:chOff x="0" y="0"/>
            <a:chExt cx="10972800" cy="6400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630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6"/>
                </a:lnSpc>
              </a:pPr>
              <a:r>
                <a:rPr lang="en-US" sz="1730" b="1" spc="786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PROBLEM  ·  INSIGHT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00" y="1303020"/>
            <a:ext cx="15544343" cy="480060"/>
            <a:chOff x="0" y="0"/>
            <a:chExt cx="2072579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5791" cy="640080"/>
            </a:xfrm>
            <a:custGeom>
              <a:avLst/>
              <a:gdLst/>
              <a:ahLst/>
              <a:cxnLst/>
              <a:rect l="l" t="t" r="r" b="b"/>
              <a:pathLst>
                <a:path w="20725791" h="640080">
                  <a:moveTo>
                    <a:pt x="0" y="0"/>
                  </a:moveTo>
                  <a:lnTo>
                    <a:pt x="20725791" y="0"/>
                  </a:lnTo>
                  <a:lnTo>
                    <a:pt x="207257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0925" b="-5809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072579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아직은 괜찮은 것 같으니까…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7280" y="1821942"/>
            <a:ext cx="16092983" cy="736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sz="4500" b="1">
                <a:solidFill>
                  <a:srgbClr val="E39A1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“나 정도면 상담은 안 받아도 되겠지?”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62075" y="6537960"/>
            <a:ext cx="4888230" cy="1802130"/>
            <a:chOff x="0" y="0"/>
            <a:chExt cx="6517640" cy="2402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17640" cy="2402840"/>
            </a:xfrm>
            <a:custGeom>
              <a:avLst/>
              <a:gdLst/>
              <a:ahLst/>
              <a:cxnLst/>
              <a:rect l="l" t="t" r="r" b="b"/>
              <a:pathLst>
                <a:path w="6517640" h="24028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6295771" y="0"/>
                  </a:lnTo>
                  <a:cubicBezTo>
                    <a:pt x="6418326" y="0"/>
                    <a:pt x="6517640" y="99314"/>
                    <a:pt x="6517640" y="221869"/>
                  </a:cubicBezTo>
                  <a:lnTo>
                    <a:pt x="6517640" y="2180971"/>
                  </a:lnTo>
                  <a:cubicBezTo>
                    <a:pt x="6517640" y="2303526"/>
                    <a:pt x="6418326" y="2402840"/>
                    <a:pt x="6295771" y="2402840"/>
                  </a:cubicBezTo>
                  <a:lnTo>
                    <a:pt x="221869" y="2402840"/>
                  </a:lnTo>
                  <a:cubicBezTo>
                    <a:pt x="99314" y="2402840"/>
                    <a:pt x="0" y="2303526"/>
                    <a:pt x="0" y="21809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00" y="6890385"/>
            <a:ext cx="4869180" cy="480060"/>
            <a:chOff x="0" y="0"/>
            <a:chExt cx="6492240" cy="640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92240" cy="640080"/>
            </a:xfrm>
            <a:custGeom>
              <a:avLst/>
              <a:gdLst/>
              <a:ahLst/>
              <a:cxnLst/>
              <a:rect l="l" t="t" r="r" b="b"/>
              <a:pathLst>
                <a:path w="6492240" h="640080">
                  <a:moveTo>
                    <a:pt x="0" y="0"/>
                  </a:moveTo>
                  <a:lnTo>
                    <a:pt x="6492240" y="0"/>
                  </a:lnTo>
                  <a:lnTo>
                    <a:pt x="6492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633" b="-14763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64922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마음이 지친 일상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1600" y="7411593"/>
            <a:ext cx="4869180" cy="411480"/>
            <a:chOff x="0" y="0"/>
            <a:chExt cx="649224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92240" cy="548640"/>
            </a:xfrm>
            <a:custGeom>
              <a:avLst/>
              <a:gdLst/>
              <a:ahLst/>
              <a:cxnLst/>
              <a:rect l="l" t="t" r="r" b="b"/>
              <a:pathLst>
                <a:path w="6492240" h="5486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0572" b="-18057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4922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지금 청년들이 머무는 곳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80360" y="4284345"/>
            <a:ext cx="1875177" cy="2263140"/>
            <a:chOff x="0" y="0"/>
            <a:chExt cx="2500236" cy="3017520"/>
          </a:xfrm>
        </p:grpSpPr>
        <p:sp>
          <p:nvSpPr>
            <p:cNvPr id="19" name="Freeform 19" descr="/home/claude/build/img/image-7-3.png"/>
            <p:cNvSpPr/>
            <p:nvPr/>
          </p:nvSpPr>
          <p:spPr>
            <a:xfrm>
              <a:off x="0" y="0"/>
              <a:ext cx="2500249" cy="3017520"/>
            </a:xfrm>
            <a:custGeom>
              <a:avLst/>
              <a:gdLst/>
              <a:ahLst/>
              <a:cxnLst/>
              <a:rect l="l" t="t" r="r" b="b"/>
              <a:pathLst>
                <a:path w="2500249" h="3017520">
                  <a:moveTo>
                    <a:pt x="0" y="0"/>
                  </a:moveTo>
                  <a:lnTo>
                    <a:pt x="2500249" y="0"/>
                  </a:lnTo>
                  <a:lnTo>
                    <a:pt x="2500249" y="3017520"/>
                  </a:lnTo>
                  <a:lnTo>
                    <a:pt x="0" y="301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96050" y="5019675"/>
            <a:ext cx="4907280" cy="3329940"/>
            <a:chOff x="0" y="0"/>
            <a:chExt cx="6543040" cy="44399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43040" cy="4439920"/>
            </a:xfrm>
            <a:custGeom>
              <a:avLst/>
              <a:gdLst/>
              <a:ahLst/>
              <a:cxnLst/>
              <a:rect l="l" t="t" r="r" b="b"/>
              <a:pathLst>
                <a:path w="6543040" h="443992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6321044" y="0"/>
                  </a:lnTo>
                  <a:cubicBezTo>
                    <a:pt x="6443599" y="0"/>
                    <a:pt x="6543040" y="99441"/>
                    <a:pt x="6543040" y="221996"/>
                  </a:cubicBezTo>
                  <a:lnTo>
                    <a:pt x="6543040" y="4217924"/>
                  </a:lnTo>
                  <a:cubicBezTo>
                    <a:pt x="6543040" y="4340479"/>
                    <a:pt x="6443599" y="4439920"/>
                    <a:pt x="6321044" y="4439920"/>
                  </a:cubicBezTo>
                  <a:lnTo>
                    <a:pt x="221996" y="4439920"/>
                  </a:lnTo>
                  <a:cubicBezTo>
                    <a:pt x="99441" y="4439920"/>
                    <a:pt x="0" y="4340479"/>
                    <a:pt x="0" y="4217924"/>
                  </a:cubicBezTo>
                  <a:close/>
                </a:path>
              </a:pathLst>
            </a:custGeom>
            <a:solidFill>
              <a:srgbClr val="F5C83A">
                <a:alpha val="1176"/>
              </a:srgbClr>
            </a:solidFill>
            <a:ln w="38100" cap="sq">
              <a:solidFill>
                <a:srgbClr val="F5C83A"/>
              </a:solidFill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15100" y="5381625"/>
            <a:ext cx="4869180" cy="1371600"/>
            <a:chOff x="0" y="0"/>
            <a:chExt cx="6492240" cy="1828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92240" cy="1828800"/>
            </a:xfrm>
            <a:custGeom>
              <a:avLst/>
              <a:gdLst/>
              <a:ahLst/>
              <a:cxnLst/>
              <a:rect l="l" t="t" r="r" b="b"/>
              <a:pathLst>
                <a:path w="6492240" h="1828800">
                  <a:moveTo>
                    <a:pt x="0" y="0"/>
                  </a:moveTo>
                  <a:lnTo>
                    <a:pt x="6492240" y="0"/>
                  </a:lnTo>
                  <a:lnTo>
                    <a:pt x="649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171" b="-1917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6492240" cy="1838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810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?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15100" y="6890385"/>
            <a:ext cx="4869180" cy="480060"/>
            <a:chOff x="0" y="0"/>
            <a:chExt cx="6492240" cy="6400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92240" cy="640080"/>
            </a:xfrm>
            <a:custGeom>
              <a:avLst/>
              <a:gdLst/>
              <a:ahLst/>
              <a:cxnLst/>
              <a:rect l="l" t="t" r="r" b="b"/>
              <a:pathLst>
                <a:path w="6492240" h="640080">
                  <a:moveTo>
                    <a:pt x="0" y="0"/>
                  </a:moveTo>
                  <a:lnTo>
                    <a:pt x="6492240" y="0"/>
                  </a:lnTo>
                  <a:lnTo>
                    <a:pt x="6492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633" b="-14763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64922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가볍게 딛을 첫 단계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15100" y="7411593"/>
            <a:ext cx="4869180" cy="411480"/>
            <a:chOff x="0" y="0"/>
            <a:chExt cx="649224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492240" cy="548640"/>
            </a:xfrm>
            <a:custGeom>
              <a:avLst/>
              <a:gdLst/>
              <a:ahLst/>
              <a:cxnLst/>
              <a:rect l="l" t="t" r="r" b="b"/>
              <a:pathLst>
                <a:path w="6492240" h="5486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0572" b="-18057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64922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비어 있음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15100" y="4215765"/>
            <a:ext cx="4869180" cy="480060"/>
            <a:chOff x="0" y="0"/>
            <a:chExt cx="6492240" cy="6400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92240" cy="640080"/>
            </a:xfrm>
            <a:custGeom>
              <a:avLst/>
              <a:gdLst/>
              <a:ahLst/>
              <a:cxnLst/>
              <a:rect l="l" t="t" r="r" b="b"/>
              <a:pathLst>
                <a:path w="6492240" h="640080">
                  <a:moveTo>
                    <a:pt x="0" y="0"/>
                  </a:moveTo>
                  <a:lnTo>
                    <a:pt x="6492240" y="0"/>
                  </a:lnTo>
                  <a:lnTo>
                    <a:pt x="6492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633" b="-14763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6492240" cy="630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한 번에 오르기엔 너무 높은 계단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649075" y="3314700"/>
            <a:ext cx="5299710" cy="5025390"/>
            <a:chOff x="0" y="0"/>
            <a:chExt cx="7066280" cy="6700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066280" cy="6700520"/>
            </a:xfrm>
            <a:custGeom>
              <a:avLst/>
              <a:gdLst/>
              <a:ahLst/>
              <a:cxnLst/>
              <a:rect l="l" t="t" r="r" b="b"/>
              <a:pathLst>
                <a:path w="7066280" h="670052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845935" y="0"/>
                  </a:lnTo>
                  <a:cubicBezTo>
                    <a:pt x="6967601" y="0"/>
                    <a:pt x="7066280" y="98679"/>
                    <a:pt x="7066280" y="220345"/>
                  </a:cubicBezTo>
                  <a:lnTo>
                    <a:pt x="7066280" y="6480175"/>
                  </a:lnTo>
                  <a:cubicBezTo>
                    <a:pt x="7066280" y="6601841"/>
                    <a:pt x="6967601" y="6700520"/>
                    <a:pt x="6845935" y="6700520"/>
                  </a:cubicBezTo>
                  <a:lnTo>
                    <a:pt x="220345" y="6700520"/>
                  </a:lnTo>
                  <a:cubicBezTo>
                    <a:pt x="98679" y="6700520"/>
                    <a:pt x="0" y="6601841"/>
                    <a:pt x="0" y="64801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658600" y="3667125"/>
            <a:ext cx="5280660" cy="480060"/>
            <a:chOff x="0" y="0"/>
            <a:chExt cx="7040880" cy="6400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040880" cy="640080"/>
            </a:xfrm>
            <a:custGeom>
              <a:avLst/>
              <a:gdLst/>
              <a:ahLst/>
              <a:cxnLst/>
              <a:rect l="l" t="t" r="r" b="b"/>
              <a:pathLst>
                <a:path w="7040880" h="640080">
                  <a:moveTo>
                    <a:pt x="0" y="0"/>
                  </a:moveTo>
                  <a:lnTo>
                    <a:pt x="7040880" y="0"/>
                  </a:lnTo>
                  <a:lnTo>
                    <a:pt x="7040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4335" b="-16433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70408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 · 전문기관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658600" y="4174617"/>
            <a:ext cx="5280660" cy="411480"/>
            <a:chOff x="0" y="0"/>
            <a:chExt cx="7040880" cy="5486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040880" cy="548640"/>
            </a:xfrm>
            <a:custGeom>
              <a:avLst/>
              <a:gdLst/>
              <a:ahLst/>
              <a:cxnLst/>
              <a:rect l="l" t="t" r="r" b="b"/>
              <a:pathLst>
                <a:path w="7040880" h="54864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70408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도움 요청이라는 큰 결심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991975" y="5166360"/>
            <a:ext cx="2145030" cy="595122"/>
            <a:chOff x="0" y="0"/>
            <a:chExt cx="2860040" cy="7934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860040" cy="793496"/>
            </a:xfrm>
            <a:custGeom>
              <a:avLst/>
              <a:gdLst/>
              <a:ahLst/>
              <a:cxnLst/>
              <a:rect l="l" t="t" r="r" b="b"/>
              <a:pathLst>
                <a:path w="2860040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463292" y="0"/>
                  </a:lnTo>
                  <a:cubicBezTo>
                    <a:pt x="2682367" y="0"/>
                    <a:pt x="2860040" y="177673"/>
                    <a:pt x="2860040" y="396748"/>
                  </a:cubicBezTo>
                  <a:cubicBezTo>
                    <a:pt x="2860040" y="615823"/>
                    <a:pt x="2682367" y="793496"/>
                    <a:pt x="246329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001500" y="5175885"/>
            <a:ext cx="2125980" cy="576072"/>
            <a:chOff x="0" y="0"/>
            <a:chExt cx="2834640" cy="7680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834640" cy="768096"/>
            </a:xfrm>
            <a:custGeom>
              <a:avLst/>
              <a:gdLst/>
              <a:ahLst/>
              <a:cxnLst/>
              <a:rect l="l" t="t" r="r" b="b"/>
              <a:pathLst>
                <a:path w="2834640" h="768096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909" b="-2190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9525"/>
              <a:ext cx="2834640" cy="758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거리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460855" y="5166360"/>
            <a:ext cx="2145030" cy="595122"/>
            <a:chOff x="0" y="0"/>
            <a:chExt cx="2860040" cy="79349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860040" cy="793496"/>
            </a:xfrm>
            <a:custGeom>
              <a:avLst/>
              <a:gdLst/>
              <a:ahLst/>
              <a:cxnLst/>
              <a:rect l="l" t="t" r="r" b="b"/>
              <a:pathLst>
                <a:path w="2860040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463292" y="0"/>
                  </a:lnTo>
                  <a:cubicBezTo>
                    <a:pt x="2682367" y="0"/>
                    <a:pt x="2860040" y="177673"/>
                    <a:pt x="2860040" y="396748"/>
                  </a:cubicBezTo>
                  <a:cubicBezTo>
                    <a:pt x="2860040" y="615823"/>
                    <a:pt x="2682367" y="793496"/>
                    <a:pt x="246329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470380" y="5175885"/>
            <a:ext cx="2125980" cy="576072"/>
            <a:chOff x="0" y="0"/>
            <a:chExt cx="2834640" cy="76809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834640" cy="768096"/>
            </a:xfrm>
            <a:custGeom>
              <a:avLst/>
              <a:gdLst/>
              <a:ahLst/>
              <a:cxnLst/>
              <a:rect l="l" t="t" r="r" b="b"/>
              <a:pathLst>
                <a:path w="2834640" h="768096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909" b="-2190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2834640" cy="758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비용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991975" y="5920740"/>
            <a:ext cx="3036570" cy="595122"/>
            <a:chOff x="0" y="0"/>
            <a:chExt cx="4048760" cy="79349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48760" cy="793496"/>
            </a:xfrm>
            <a:custGeom>
              <a:avLst/>
              <a:gdLst/>
              <a:ahLst/>
              <a:cxnLst/>
              <a:rect l="l" t="t" r="r" b="b"/>
              <a:pathLst>
                <a:path w="4048760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3652012" y="0"/>
                  </a:lnTo>
                  <a:cubicBezTo>
                    <a:pt x="3871087" y="0"/>
                    <a:pt x="4048760" y="177673"/>
                    <a:pt x="4048760" y="396748"/>
                  </a:cubicBezTo>
                  <a:cubicBezTo>
                    <a:pt x="4048760" y="615823"/>
                    <a:pt x="3871087" y="793496"/>
                    <a:pt x="365201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001500" y="5930265"/>
            <a:ext cx="3017520" cy="576072"/>
            <a:chOff x="0" y="0"/>
            <a:chExt cx="4023360" cy="76809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023360" cy="768096"/>
            </a:xfrm>
            <a:custGeom>
              <a:avLst/>
              <a:gdLst/>
              <a:ahLst/>
              <a:cxnLst/>
              <a:rect l="l" t="t" r="r" b="b"/>
              <a:pathLst>
                <a:path w="4023360" h="768096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64" b="-520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9525"/>
              <a:ext cx="4023360" cy="758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 기록 보안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090775" y="5898452"/>
            <a:ext cx="1390650" cy="595122"/>
            <a:chOff x="0" y="0"/>
            <a:chExt cx="1854200" cy="79349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854200" cy="793496"/>
            </a:xfrm>
            <a:custGeom>
              <a:avLst/>
              <a:gdLst/>
              <a:ahLst/>
              <a:cxnLst/>
              <a:rect l="l" t="t" r="r" b="b"/>
              <a:pathLst>
                <a:path w="1854200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457452" y="0"/>
                  </a:lnTo>
                  <a:cubicBezTo>
                    <a:pt x="1676527" y="0"/>
                    <a:pt x="1854200" y="177673"/>
                    <a:pt x="1854200" y="396748"/>
                  </a:cubicBezTo>
                  <a:cubicBezTo>
                    <a:pt x="1854200" y="615823"/>
                    <a:pt x="1676527" y="793496"/>
                    <a:pt x="145745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075535" y="5891308"/>
            <a:ext cx="1371600" cy="576072"/>
            <a:chOff x="0" y="0"/>
            <a:chExt cx="1828800" cy="7680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828800" cy="768096"/>
            </a:xfrm>
            <a:custGeom>
              <a:avLst/>
              <a:gdLst/>
              <a:ahLst/>
              <a:cxnLst/>
              <a:rect l="l" t="t" r="r" b="b"/>
              <a:pathLst>
                <a:path w="1828800" h="768096">
                  <a:moveTo>
                    <a:pt x="0" y="0"/>
                  </a:moveTo>
                  <a:lnTo>
                    <a:pt x="1828800" y="0"/>
                  </a:lnTo>
                  <a:lnTo>
                    <a:pt x="1828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87" r="-388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9525"/>
              <a:ext cx="1828800" cy="758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 dirty="0" err="1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익명성</a:t>
              </a:r>
              <a:endParaRPr lang="en-US" sz="1725" b="1" dirty="0">
                <a:solidFill>
                  <a:srgbClr val="5A4A2A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991975" y="6675120"/>
            <a:ext cx="4613910" cy="595122"/>
            <a:chOff x="0" y="0"/>
            <a:chExt cx="6151880" cy="7934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151880" cy="793496"/>
            </a:xfrm>
            <a:custGeom>
              <a:avLst/>
              <a:gdLst/>
              <a:ahLst/>
              <a:cxnLst/>
              <a:rect l="l" t="t" r="r" b="b"/>
              <a:pathLst>
                <a:path w="6151880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5755132" y="0"/>
                  </a:lnTo>
                  <a:cubicBezTo>
                    <a:pt x="5974207" y="0"/>
                    <a:pt x="6151880" y="177673"/>
                    <a:pt x="6151880" y="396748"/>
                  </a:cubicBezTo>
                  <a:cubicBezTo>
                    <a:pt x="6151880" y="615823"/>
                    <a:pt x="5974207" y="793496"/>
                    <a:pt x="575513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001500" y="6684645"/>
            <a:ext cx="4594860" cy="576072"/>
            <a:chOff x="0" y="0"/>
            <a:chExt cx="6126480" cy="76809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126480" cy="768096"/>
            </a:xfrm>
            <a:custGeom>
              <a:avLst/>
              <a:gdLst/>
              <a:ahLst/>
              <a:cxnLst/>
              <a:rect l="l" t="t" r="r" b="b"/>
              <a:pathLst>
                <a:path w="6126480" h="768096">
                  <a:moveTo>
                    <a:pt x="0" y="0"/>
                  </a:moveTo>
                  <a:lnTo>
                    <a:pt x="6126480" y="0"/>
                  </a:lnTo>
                  <a:lnTo>
                    <a:pt x="6126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5416" b="-10541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9525"/>
              <a:ext cx="6126480" cy="758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가면 무엇을 하는지 모름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658600" y="7603617"/>
            <a:ext cx="5280660" cy="411480"/>
            <a:chOff x="0" y="0"/>
            <a:chExt cx="704088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040880" cy="548640"/>
            </a:xfrm>
            <a:custGeom>
              <a:avLst/>
              <a:gdLst/>
              <a:ahLst/>
              <a:cxnLst/>
              <a:rect l="l" t="t" r="r" b="b"/>
              <a:pathLst>
                <a:path w="7040880" h="54864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70408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청년들이 도움을 찾을 때 동시에 따진 것들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97280" y="8692515"/>
            <a:ext cx="16092983" cy="548640"/>
            <a:chOff x="0" y="0"/>
            <a:chExt cx="21457310" cy="7315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457310" cy="731520"/>
            </a:xfrm>
            <a:custGeom>
              <a:avLst/>
              <a:gdLst/>
              <a:ahLst/>
              <a:cxnLst/>
              <a:rect l="l" t="t" r="r" b="b"/>
              <a:pathLst>
                <a:path w="21457310" h="731520">
                  <a:moveTo>
                    <a:pt x="0" y="0"/>
                  </a:moveTo>
                  <a:lnTo>
                    <a:pt x="21457310" y="0"/>
                  </a:lnTo>
                  <a:lnTo>
                    <a:pt x="214573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1544" b="-521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9525"/>
              <a:ext cx="2145731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스스로를 ‘도움이 필요한 사람’이라 인정하기 전, </a:t>
              </a:r>
              <a:r>
                <a:rPr lang="en-US" sz="240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딛고 올라설 첫 계단이 없습니다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22960" y="9601200"/>
            <a:ext cx="15361920" cy="411480"/>
            <a:chOff x="0" y="0"/>
            <a:chExt cx="20482560" cy="5486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482561" cy="548640"/>
            </a:xfrm>
            <a:custGeom>
              <a:avLst/>
              <a:gdLst/>
              <a:ahLst/>
              <a:cxnLst/>
              <a:rect l="l" t="t" r="r" b="b"/>
              <a:pathLst>
                <a:path w="20482561" h="548640">
                  <a:moveTo>
                    <a:pt x="0" y="0"/>
                  </a:moveTo>
                  <a:lnTo>
                    <a:pt x="20482561" y="0"/>
                  </a:lnTo>
                  <a:lnTo>
                    <a:pt x="204825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77441" b="-6774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2048256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출처: 한국보건사회연구원 「보건사회연구」, 청년 정신건강 도움요청 과정 심층면접 연구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6733520" y="9601200"/>
            <a:ext cx="822960" cy="411480"/>
            <a:chOff x="0" y="0"/>
            <a:chExt cx="1097280" cy="54864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04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28971" y="384048"/>
            <a:ext cx="8229600" cy="411480"/>
            <a:chOff x="0" y="0"/>
            <a:chExt cx="10972800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OUR INSIGHT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1097280"/>
            <a:ext cx="16915943" cy="1714500"/>
            <a:chOff x="0" y="0"/>
            <a:chExt cx="2255459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54591" cy="2286000"/>
            </a:xfrm>
            <a:custGeom>
              <a:avLst/>
              <a:gdLst/>
              <a:ahLst/>
              <a:cxnLst/>
              <a:rect l="l" t="t" r="r" b="b"/>
              <a:pathLst>
                <a:path w="22554591" h="2286000">
                  <a:moveTo>
                    <a:pt x="0" y="0"/>
                  </a:moveTo>
                  <a:lnTo>
                    <a:pt x="22554591" y="0"/>
                  </a:lnTo>
                  <a:lnTo>
                    <a:pt x="2255459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2247" b="-14224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554590" cy="2362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우리가 발견한 빈틈은 ‘상담’이 아니라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상담을 찾기 전의 마음</a:t>
              </a: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이었습니다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8846820"/>
            <a:ext cx="18287543" cy="617220"/>
            <a:chOff x="0" y="0"/>
            <a:chExt cx="24383390" cy="822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3391" cy="822960"/>
            </a:xfrm>
            <a:custGeom>
              <a:avLst/>
              <a:gdLst/>
              <a:ahLst/>
              <a:cxnLst/>
              <a:rect l="l" t="t" r="r" b="b"/>
              <a:pathLst>
                <a:path w="24383391" h="822960">
                  <a:moveTo>
                    <a:pt x="0" y="0"/>
                  </a:moveTo>
                  <a:lnTo>
                    <a:pt x="24383391" y="0"/>
                  </a:lnTo>
                  <a:lnTo>
                    <a:pt x="2438339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7320" b="-5273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24383390" cy="813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고위험군이 된 이후의 개입이 아니라, </a:t>
              </a:r>
              <a:r>
                <a:rPr lang="en-US" sz="24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그 이전의 마음을 놓치지 않는 일상 속 그물망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4915" y="7328535"/>
            <a:ext cx="2668524" cy="430530"/>
            <a:chOff x="0" y="0"/>
            <a:chExt cx="3558032" cy="5740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58032" cy="574040"/>
            </a:xfrm>
            <a:custGeom>
              <a:avLst/>
              <a:gdLst/>
              <a:ahLst/>
              <a:cxnLst/>
              <a:rect l="l" t="t" r="r" b="b"/>
              <a:pathLst>
                <a:path w="3558032" h="574040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FF3D1"/>
            </a:solidFill>
            <a:ln w="19050" cap="sq">
              <a:solidFill>
                <a:srgbClr val="FFF3D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60673" y="7328535"/>
            <a:ext cx="2668524" cy="430530"/>
            <a:chOff x="0" y="0"/>
            <a:chExt cx="3558032" cy="574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58032" cy="574040"/>
            </a:xfrm>
            <a:custGeom>
              <a:avLst/>
              <a:gdLst/>
              <a:ahLst/>
              <a:cxnLst/>
              <a:rect l="l" t="t" r="r" b="b"/>
              <a:pathLst>
                <a:path w="3558032" h="574040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DE6A6"/>
            </a:solidFill>
            <a:ln w="19050" cap="sq">
              <a:solidFill>
                <a:srgbClr val="FDE6A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96431" y="7328535"/>
            <a:ext cx="2668524" cy="430530"/>
            <a:chOff x="0" y="0"/>
            <a:chExt cx="3558032" cy="5740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58032" cy="574040"/>
            </a:xfrm>
            <a:custGeom>
              <a:avLst/>
              <a:gdLst/>
              <a:ahLst/>
              <a:cxnLst/>
              <a:rect l="l" t="t" r="r" b="b"/>
              <a:pathLst>
                <a:path w="3558032" h="574040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9D56E"/>
            </a:solidFill>
            <a:ln w="19050" cap="sq">
              <a:solidFill>
                <a:srgbClr val="F9D56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32189" y="7328535"/>
            <a:ext cx="2668524" cy="430530"/>
            <a:chOff x="0" y="0"/>
            <a:chExt cx="3558032" cy="574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58032" cy="574040"/>
            </a:xfrm>
            <a:custGeom>
              <a:avLst/>
              <a:gdLst/>
              <a:ahLst/>
              <a:cxnLst/>
              <a:rect l="l" t="t" r="r" b="b"/>
              <a:pathLst>
                <a:path w="3558032" h="574040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2BE3A"/>
            </a:solidFill>
            <a:ln w="19050" cap="sq">
              <a:solidFill>
                <a:srgbClr val="F2BE3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767947" y="7328535"/>
            <a:ext cx="2668524" cy="430530"/>
            <a:chOff x="0" y="0"/>
            <a:chExt cx="3558032" cy="5740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58032" cy="574040"/>
            </a:xfrm>
            <a:custGeom>
              <a:avLst/>
              <a:gdLst/>
              <a:ahLst/>
              <a:cxnLst/>
              <a:rect l="l" t="t" r="r" b="b"/>
              <a:pathLst>
                <a:path w="3558032" h="574040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E39A12"/>
            </a:solidFill>
            <a:ln w="19050" cap="sq">
              <a:solidFill>
                <a:srgbClr val="E39A1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403705" y="7328535"/>
            <a:ext cx="2668524" cy="430530"/>
            <a:chOff x="0" y="0"/>
            <a:chExt cx="3558032" cy="5740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58032" cy="574040"/>
            </a:xfrm>
            <a:custGeom>
              <a:avLst/>
              <a:gdLst/>
              <a:ahLst/>
              <a:cxnLst/>
              <a:rect l="l" t="t" r="r" b="b"/>
              <a:pathLst>
                <a:path w="3558032" h="574040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C47A00"/>
            </a:solidFill>
            <a:ln w="19050" cap="sq">
              <a:solidFill>
                <a:srgbClr val="C47A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440" y="7859268"/>
            <a:ext cx="2057400" cy="411480"/>
            <a:chOff x="0" y="0"/>
            <a:chExt cx="274320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43200" cy="548640"/>
            </a:xfrm>
            <a:custGeom>
              <a:avLst/>
              <a:gdLst/>
              <a:ahLst/>
              <a:cxnLst/>
              <a:rect l="l" t="t" r="r" b="b"/>
              <a:pathLst>
                <a:path w="2743200" h="54864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743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괜찮음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86371" y="7859268"/>
            <a:ext cx="4114800" cy="411480"/>
            <a:chOff x="0" y="0"/>
            <a:chExt cx="5486400" cy="5486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&lt;마음의 무게&gt;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991588" y="7859268"/>
            <a:ext cx="2057400" cy="411480"/>
            <a:chOff x="0" y="0"/>
            <a:chExt cx="2743200" cy="548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43200" cy="548640"/>
            </a:xfrm>
            <a:custGeom>
              <a:avLst/>
              <a:gdLst/>
              <a:ahLst/>
              <a:cxnLst/>
              <a:rect l="l" t="t" r="r" b="b"/>
              <a:pathLst>
                <a:path w="2743200" h="54864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2743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위기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520791" y="3343751"/>
            <a:ext cx="6617018" cy="3668078"/>
            <a:chOff x="0" y="0"/>
            <a:chExt cx="8822690" cy="489077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822690" cy="4890770"/>
            </a:xfrm>
            <a:custGeom>
              <a:avLst/>
              <a:gdLst/>
              <a:ahLst/>
              <a:cxnLst/>
              <a:rect l="l" t="t" r="r" b="b"/>
              <a:pathLst>
                <a:path w="8822690" h="489077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8527415" y="0"/>
                  </a:lnTo>
                  <a:cubicBezTo>
                    <a:pt x="8690483" y="0"/>
                    <a:pt x="8822690" y="132207"/>
                    <a:pt x="8822690" y="295275"/>
                  </a:cubicBezTo>
                  <a:lnTo>
                    <a:pt x="8822690" y="4595495"/>
                  </a:lnTo>
                  <a:cubicBezTo>
                    <a:pt x="8822690" y="4758563"/>
                    <a:pt x="8690483" y="4890770"/>
                    <a:pt x="8527415" y="4890770"/>
                  </a:cubicBezTo>
                  <a:lnTo>
                    <a:pt x="295275" y="4890770"/>
                  </a:lnTo>
                  <a:cubicBezTo>
                    <a:pt x="132207" y="4890770"/>
                    <a:pt x="0" y="4758563"/>
                    <a:pt x="0" y="4595495"/>
                  </a:cubicBezTo>
                  <a:close/>
                </a:path>
              </a:pathLst>
            </a:custGeom>
            <a:solidFill>
              <a:srgbClr val="F5C83A">
                <a:alpha val="1569"/>
              </a:srgbClr>
            </a:solidFill>
            <a:ln w="33338" cap="sq">
              <a:solidFill>
                <a:srgbClr val="E39A12"/>
              </a:solidFill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2938" y="3081338"/>
            <a:ext cx="2752725" cy="558165"/>
            <a:chOff x="0" y="0"/>
            <a:chExt cx="3670300" cy="7442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670300" cy="744220"/>
            </a:xfrm>
            <a:custGeom>
              <a:avLst/>
              <a:gdLst/>
              <a:ahLst/>
              <a:cxnLst/>
              <a:rect l="l" t="t" r="r" b="b"/>
              <a:pathLst>
                <a:path w="3670300" h="744220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3298190" y="0"/>
                  </a:lnTo>
                  <a:cubicBezTo>
                    <a:pt x="3503676" y="0"/>
                    <a:pt x="3670300" y="166624"/>
                    <a:pt x="3670300" y="372110"/>
                  </a:cubicBezTo>
                  <a:cubicBezTo>
                    <a:pt x="3670300" y="577596"/>
                    <a:pt x="3503676" y="744220"/>
                    <a:pt x="3298190" y="744220"/>
                  </a:cubicBezTo>
                  <a:lnTo>
                    <a:pt x="372110" y="744220"/>
                  </a:lnTo>
                  <a:cubicBezTo>
                    <a:pt x="166624" y="744220"/>
                    <a:pt x="0" y="577596"/>
                    <a:pt x="0" y="372110"/>
                  </a:cubicBezTo>
                  <a:close/>
                </a:path>
              </a:pathLst>
            </a:custGeom>
            <a:solidFill>
              <a:srgbClr val="E39A12"/>
            </a:solidFill>
            <a:ln w="9525" cap="sq">
              <a:solidFill>
                <a:srgbClr val="E39A1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57700" y="3086100"/>
            <a:ext cx="2743200" cy="548640"/>
            <a:chOff x="0" y="0"/>
            <a:chExt cx="365760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비어 있던 구간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37460" y="3840480"/>
            <a:ext cx="6583680" cy="438912"/>
            <a:chOff x="0" y="0"/>
            <a:chExt cx="8778240" cy="58521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778240" cy="585216"/>
            </a:xfrm>
            <a:custGeom>
              <a:avLst/>
              <a:gdLst/>
              <a:ahLst/>
              <a:cxnLst/>
              <a:rect l="l" t="t" r="r" b="b"/>
              <a:pathLst>
                <a:path w="8778240" h="585216">
                  <a:moveTo>
                    <a:pt x="0" y="0"/>
                  </a:moveTo>
                  <a:lnTo>
                    <a:pt x="8778240" y="0"/>
                  </a:lnTo>
                  <a:lnTo>
                    <a:pt x="8778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8778240" cy="5756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도움을 요청하기 전의 마음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566160" y="5143500"/>
            <a:ext cx="4526280" cy="1659636"/>
            <a:chOff x="0" y="0"/>
            <a:chExt cx="6035040" cy="2212848"/>
          </a:xfrm>
        </p:grpSpPr>
        <p:sp>
          <p:nvSpPr>
            <p:cNvPr id="50" name="Freeform 50" descr="/home/claude/tpl/assets/hammock.png"/>
            <p:cNvSpPr/>
            <p:nvPr/>
          </p:nvSpPr>
          <p:spPr>
            <a:xfrm>
              <a:off x="0" y="0"/>
              <a:ext cx="6035040" cy="2212848"/>
            </a:xfrm>
            <a:custGeom>
              <a:avLst/>
              <a:gdLst/>
              <a:ahLst/>
              <a:cxnLst/>
              <a:rect l="l" t="t" r="r" b="b"/>
              <a:pathLst>
                <a:path w="6035040" h="2212848">
                  <a:moveTo>
                    <a:pt x="0" y="0"/>
                  </a:moveTo>
                  <a:lnTo>
                    <a:pt x="6035040" y="0"/>
                  </a:lnTo>
                  <a:lnTo>
                    <a:pt x="6035040" y="2212848"/>
                  </a:lnTo>
                  <a:lnTo>
                    <a:pt x="0" y="2212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63440" y="4841748"/>
            <a:ext cx="2331720" cy="1152144"/>
            <a:chOff x="0" y="0"/>
            <a:chExt cx="3108960" cy="1536192"/>
          </a:xfrm>
        </p:grpSpPr>
        <p:sp>
          <p:nvSpPr>
            <p:cNvPr id="52" name="Freeform 52" descr="/home/claude/tpl/assets/bird_lying_net.png"/>
            <p:cNvSpPr/>
            <p:nvPr/>
          </p:nvSpPr>
          <p:spPr>
            <a:xfrm>
              <a:off x="0" y="0"/>
              <a:ext cx="3108960" cy="1536192"/>
            </a:xfrm>
            <a:custGeom>
              <a:avLst/>
              <a:gdLst/>
              <a:ahLst/>
              <a:cxnLst/>
              <a:rect l="l" t="t" r="r" b="b"/>
              <a:pathLst>
                <a:path w="3108960" h="1536192">
                  <a:moveTo>
                    <a:pt x="0" y="0"/>
                  </a:moveTo>
                  <a:lnTo>
                    <a:pt x="3108960" y="0"/>
                  </a:lnTo>
                  <a:lnTo>
                    <a:pt x="3108960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43" b="-2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537460" y="4347972"/>
            <a:ext cx="6583680" cy="617220"/>
            <a:chOff x="0" y="0"/>
            <a:chExt cx="8778240" cy="8229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778240" cy="822960"/>
            </a:xfrm>
            <a:custGeom>
              <a:avLst/>
              <a:gdLst/>
              <a:ahLst/>
              <a:cxnLst/>
              <a:rect l="l" t="t" r="r" b="b"/>
              <a:pathLst>
                <a:path w="8778240" h="82296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87782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On Letter</a:t>
              </a:r>
            </a:p>
          </p:txBody>
        </p:sp>
      </p:grpSp>
      <p:sp>
        <p:nvSpPr>
          <p:cNvPr id="56" name="AutoShape 56"/>
          <p:cNvSpPr/>
          <p:nvPr/>
        </p:nvSpPr>
        <p:spPr>
          <a:xfrm rot="5177100">
            <a:off x="5645553" y="7161848"/>
            <a:ext cx="367484" cy="0"/>
          </a:xfrm>
          <a:prstGeom prst="line">
            <a:avLst/>
          </a:prstGeom>
          <a:ln w="9525" cap="rnd">
            <a:solidFill>
              <a:srgbClr val="E39A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7" name="Group 57"/>
          <p:cNvGrpSpPr/>
          <p:nvPr/>
        </p:nvGrpSpPr>
        <p:grpSpPr>
          <a:xfrm>
            <a:off x="9875520" y="3154680"/>
            <a:ext cx="7132320" cy="411480"/>
            <a:chOff x="0" y="0"/>
            <a:chExt cx="9509760" cy="5486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509760" cy="548640"/>
            </a:xfrm>
            <a:custGeom>
              <a:avLst/>
              <a:gdLst/>
              <a:ahLst/>
              <a:cxnLst/>
              <a:rect l="l" t="t" r="r" b="b"/>
              <a:pathLst>
                <a:path w="9509760" h="54864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7740" b="-28774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950976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기존의 도움 — 먼저 말한 사람에게서 시작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870757" y="3767138"/>
            <a:ext cx="2231517" cy="1861185"/>
            <a:chOff x="0" y="0"/>
            <a:chExt cx="2975356" cy="248158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975356" cy="2481580"/>
            </a:xfrm>
            <a:custGeom>
              <a:avLst/>
              <a:gdLst/>
              <a:ahLst/>
              <a:cxnLst/>
              <a:rect l="l" t="t" r="r" b="b"/>
              <a:pathLst>
                <a:path w="2975356" h="24815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2754757" y="0"/>
                  </a:lnTo>
                  <a:cubicBezTo>
                    <a:pt x="2876550" y="0"/>
                    <a:pt x="2975356" y="98806"/>
                    <a:pt x="2975356" y="220599"/>
                  </a:cubicBezTo>
                  <a:lnTo>
                    <a:pt x="2975356" y="2260981"/>
                  </a:lnTo>
                  <a:cubicBezTo>
                    <a:pt x="2975356" y="2382774"/>
                    <a:pt x="2876550" y="2481580"/>
                    <a:pt x="2754757" y="2481580"/>
                  </a:cubicBezTo>
                  <a:lnTo>
                    <a:pt x="220599" y="2481580"/>
                  </a:lnTo>
                  <a:cubicBezTo>
                    <a:pt x="98806" y="2481580"/>
                    <a:pt x="0" y="2382774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875520" y="4046220"/>
            <a:ext cx="2221992" cy="548640"/>
            <a:chOff x="0" y="0"/>
            <a:chExt cx="2962656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962656" cy="731520"/>
            </a:xfrm>
            <a:custGeom>
              <a:avLst/>
              <a:gdLst/>
              <a:ahLst/>
              <a:cxnLst/>
              <a:rect l="l" t="t" r="r" b="b"/>
              <a:pathLst>
                <a:path w="2962656" h="731520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14" b="-289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29626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 손편지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012680" y="4622292"/>
            <a:ext cx="1947672" cy="754380"/>
            <a:chOff x="0" y="0"/>
            <a:chExt cx="2596896" cy="10058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596896" cy="1005840"/>
            </a:xfrm>
            <a:custGeom>
              <a:avLst/>
              <a:gdLst/>
              <a:ahLst/>
              <a:cxnLst/>
              <a:rect l="l" t="t" r="r" b="b"/>
              <a:pathLst>
                <a:path w="2596896" h="1005840">
                  <a:moveTo>
                    <a:pt x="0" y="0"/>
                  </a:moveTo>
                  <a:lnTo>
                    <a:pt x="2596896" y="0"/>
                  </a:lnTo>
                  <a:lnTo>
                    <a:pt x="2596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6" b="-30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2596896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고민을 직접 써야 시작</a:t>
              </a:r>
            </a:p>
          </p:txBody>
        </p:sp>
      </p:grpSp>
      <p:sp>
        <p:nvSpPr>
          <p:cNvPr id="68" name="AutoShape 68"/>
          <p:cNvSpPr/>
          <p:nvPr/>
        </p:nvSpPr>
        <p:spPr>
          <a:xfrm rot="5362200">
            <a:off x="10119693" y="6476048"/>
            <a:ext cx="1733655" cy="0"/>
          </a:xfrm>
          <a:prstGeom prst="line">
            <a:avLst/>
          </a:prstGeom>
          <a:ln w="9525" cap="rnd">
            <a:solidFill>
              <a:srgbClr val="A092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69"/>
          <p:cNvGrpSpPr/>
          <p:nvPr/>
        </p:nvGrpSpPr>
        <p:grpSpPr>
          <a:xfrm>
            <a:off x="12271057" y="4288346"/>
            <a:ext cx="2231517" cy="1861185"/>
            <a:chOff x="0" y="0"/>
            <a:chExt cx="2975356" cy="248158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975356" cy="2481580"/>
            </a:xfrm>
            <a:custGeom>
              <a:avLst/>
              <a:gdLst/>
              <a:ahLst/>
              <a:cxnLst/>
              <a:rect l="l" t="t" r="r" b="b"/>
              <a:pathLst>
                <a:path w="2975356" h="24815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2754757" y="0"/>
                  </a:lnTo>
                  <a:cubicBezTo>
                    <a:pt x="2876550" y="0"/>
                    <a:pt x="2975356" y="98806"/>
                    <a:pt x="2975356" y="220599"/>
                  </a:cubicBezTo>
                  <a:lnTo>
                    <a:pt x="2975356" y="2260981"/>
                  </a:lnTo>
                  <a:cubicBezTo>
                    <a:pt x="2975356" y="2382774"/>
                    <a:pt x="2876550" y="2481580"/>
                    <a:pt x="2754757" y="2481580"/>
                  </a:cubicBezTo>
                  <a:lnTo>
                    <a:pt x="220599" y="2481580"/>
                  </a:lnTo>
                  <a:cubicBezTo>
                    <a:pt x="98806" y="2481580"/>
                    <a:pt x="0" y="2382774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275820" y="4567428"/>
            <a:ext cx="2221992" cy="548640"/>
            <a:chOff x="0" y="0"/>
            <a:chExt cx="2962656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962656" cy="731520"/>
            </a:xfrm>
            <a:custGeom>
              <a:avLst/>
              <a:gdLst/>
              <a:ahLst/>
              <a:cxnLst/>
              <a:rect l="l" t="t" r="r" b="b"/>
              <a:pathLst>
                <a:path w="2962656" h="731520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14" b="-289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29626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 앱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412980" y="5143500"/>
            <a:ext cx="1947672" cy="754380"/>
            <a:chOff x="0" y="0"/>
            <a:chExt cx="2596896" cy="10058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596896" cy="1005840"/>
            </a:xfrm>
            <a:custGeom>
              <a:avLst/>
              <a:gdLst/>
              <a:ahLst/>
              <a:cxnLst/>
              <a:rect l="l" t="t" r="r" b="b"/>
              <a:pathLst>
                <a:path w="2596896" h="1005840">
                  <a:moveTo>
                    <a:pt x="0" y="0"/>
                  </a:moveTo>
                  <a:lnTo>
                    <a:pt x="2596896" y="0"/>
                  </a:lnTo>
                  <a:lnTo>
                    <a:pt x="2596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6" b="-30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2596896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마인드카페 · 트로스트</a:t>
              </a:r>
            </a:p>
          </p:txBody>
        </p:sp>
      </p:grpSp>
      <p:sp>
        <p:nvSpPr>
          <p:cNvPr id="77" name="AutoShape 77"/>
          <p:cNvSpPr/>
          <p:nvPr/>
        </p:nvSpPr>
        <p:spPr>
          <a:xfrm rot="5346000">
            <a:off x="12780569" y="6736652"/>
            <a:ext cx="1212494" cy="0"/>
          </a:xfrm>
          <a:prstGeom prst="line">
            <a:avLst/>
          </a:prstGeom>
          <a:ln w="9525" cap="rnd">
            <a:solidFill>
              <a:srgbClr val="A092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8" name="Group 78"/>
          <p:cNvGrpSpPr/>
          <p:nvPr/>
        </p:nvGrpSpPr>
        <p:grpSpPr>
          <a:xfrm>
            <a:off x="14671357" y="4809554"/>
            <a:ext cx="2231517" cy="1861185"/>
            <a:chOff x="0" y="0"/>
            <a:chExt cx="2975356" cy="24815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975356" cy="2481580"/>
            </a:xfrm>
            <a:custGeom>
              <a:avLst/>
              <a:gdLst/>
              <a:ahLst/>
              <a:cxnLst/>
              <a:rect l="l" t="t" r="r" b="b"/>
              <a:pathLst>
                <a:path w="2975356" h="24815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2754757" y="0"/>
                  </a:lnTo>
                  <a:cubicBezTo>
                    <a:pt x="2876550" y="0"/>
                    <a:pt x="2975356" y="98806"/>
                    <a:pt x="2975356" y="220599"/>
                  </a:cubicBezTo>
                  <a:lnTo>
                    <a:pt x="2975356" y="2260981"/>
                  </a:lnTo>
                  <a:cubicBezTo>
                    <a:pt x="2975356" y="2382774"/>
                    <a:pt x="2876550" y="2481580"/>
                    <a:pt x="2754757" y="2481580"/>
                  </a:cubicBezTo>
                  <a:lnTo>
                    <a:pt x="220599" y="2481580"/>
                  </a:lnTo>
                  <a:cubicBezTo>
                    <a:pt x="98806" y="2481580"/>
                    <a:pt x="0" y="2382774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676120" y="5088636"/>
            <a:ext cx="2221992" cy="548640"/>
            <a:chOff x="0" y="0"/>
            <a:chExt cx="2962656" cy="7315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962656" cy="731520"/>
            </a:xfrm>
            <a:custGeom>
              <a:avLst/>
              <a:gdLst/>
              <a:ahLst/>
              <a:cxnLst/>
              <a:rect l="l" t="t" r="r" b="b"/>
              <a:pathLst>
                <a:path w="2962656" h="731520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14" b="-289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9525"/>
              <a:ext cx="29626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전문 지원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4813280" y="5664708"/>
            <a:ext cx="1947672" cy="754380"/>
            <a:chOff x="0" y="0"/>
            <a:chExt cx="2596896" cy="10058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96896" cy="1005840"/>
            </a:xfrm>
            <a:custGeom>
              <a:avLst/>
              <a:gdLst/>
              <a:ahLst/>
              <a:cxnLst/>
              <a:rect l="l" t="t" r="r" b="b"/>
              <a:pathLst>
                <a:path w="2596896" h="1005840">
                  <a:moveTo>
                    <a:pt x="0" y="0"/>
                  </a:moveTo>
                  <a:lnTo>
                    <a:pt x="2596896" y="0"/>
                  </a:lnTo>
                  <a:lnTo>
                    <a:pt x="2596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6" b="-30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2596896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정신건강복지센터 · 109</a:t>
              </a:r>
            </a:p>
          </p:txBody>
        </p:sp>
      </p:grpSp>
      <p:sp>
        <p:nvSpPr>
          <p:cNvPr id="86" name="AutoShape 86"/>
          <p:cNvSpPr/>
          <p:nvPr/>
        </p:nvSpPr>
        <p:spPr>
          <a:xfrm rot="5305259">
            <a:off x="15441416" y="6997255"/>
            <a:ext cx="691401" cy="0"/>
          </a:xfrm>
          <a:prstGeom prst="line">
            <a:avLst/>
          </a:prstGeom>
          <a:ln w="9525" cap="rnd">
            <a:solidFill>
              <a:srgbClr val="A092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7" name="Group 87"/>
          <p:cNvGrpSpPr/>
          <p:nvPr/>
        </p:nvGrpSpPr>
        <p:grpSpPr>
          <a:xfrm>
            <a:off x="16733520" y="9601200"/>
            <a:ext cx="822960" cy="411480"/>
            <a:chOff x="0" y="0"/>
            <a:chExt cx="1097280" cy="54864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33772" y="411480"/>
            <a:ext cx="8229600" cy="480060"/>
            <a:chOff x="0" y="0"/>
            <a:chExt cx="10972800" cy="6400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630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6"/>
                </a:lnSpc>
              </a:pPr>
              <a:r>
                <a:rPr lang="en-US" sz="1730" b="1" spc="786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TARGET  ·  PERSONA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601200"/>
            <a:ext cx="822960" cy="411480"/>
            <a:chOff x="0" y="0"/>
            <a:chExt cx="1097280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71600" y="1303020"/>
            <a:ext cx="15544343" cy="480060"/>
            <a:chOff x="0" y="0"/>
            <a:chExt cx="20725790" cy="640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725791" cy="640080"/>
            </a:xfrm>
            <a:custGeom>
              <a:avLst/>
              <a:gdLst/>
              <a:ahLst/>
              <a:cxnLst/>
              <a:rect l="l" t="t" r="r" b="b"/>
              <a:pathLst>
                <a:path w="20725791" h="640080">
                  <a:moveTo>
                    <a:pt x="0" y="0"/>
                  </a:moveTo>
                  <a:lnTo>
                    <a:pt x="20725791" y="0"/>
                  </a:lnTo>
                  <a:lnTo>
                    <a:pt x="207257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0925" b="-5809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072579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메인 페르소나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" y="1821942"/>
            <a:ext cx="16092983" cy="736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4499" b="1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괜찮냐는 물음에 웃어 넘기는 </a:t>
            </a:r>
            <a:r>
              <a:rPr lang="en-US" sz="4499" b="1">
                <a:solidFill>
                  <a:srgbClr val="E39A1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27살, 한지우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87755" y="3145155"/>
            <a:ext cx="5093970" cy="5985510"/>
            <a:chOff x="0" y="0"/>
            <a:chExt cx="6791960" cy="79806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91960" cy="7980680"/>
            </a:xfrm>
            <a:custGeom>
              <a:avLst/>
              <a:gdLst/>
              <a:ahLst/>
              <a:cxnLst/>
              <a:rect l="l" t="t" r="r" b="b"/>
              <a:pathLst>
                <a:path w="6791960" h="7980680">
                  <a:moveTo>
                    <a:pt x="0" y="403860"/>
                  </a:moveTo>
                  <a:cubicBezTo>
                    <a:pt x="0" y="180848"/>
                    <a:pt x="180848" y="0"/>
                    <a:pt x="403860" y="0"/>
                  </a:cubicBezTo>
                  <a:lnTo>
                    <a:pt x="6388100" y="0"/>
                  </a:lnTo>
                  <a:cubicBezTo>
                    <a:pt x="6611112" y="0"/>
                    <a:pt x="6791960" y="180848"/>
                    <a:pt x="6791960" y="403860"/>
                  </a:cubicBezTo>
                  <a:lnTo>
                    <a:pt x="6791960" y="7576820"/>
                  </a:lnTo>
                  <a:cubicBezTo>
                    <a:pt x="6791960" y="7799832"/>
                    <a:pt x="6611112" y="7980680"/>
                    <a:pt x="6388100" y="7980680"/>
                  </a:cubicBezTo>
                  <a:lnTo>
                    <a:pt x="403860" y="7980680"/>
                  </a:lnTo>
                  <a:cubicBezTo>
                    <a:pt x="180848" y="7980680"/>
                    <a:pt x="0" y="7799832"/>
                    <a:pt x="0" y="75768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18410" y="3547110"/>
            <a:ext cx="2232660" cy="2232660"/>
            <a:chOff x="0" y="0"/>
            <a:chExt cx="2976880" cy="29768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76880" cy="2976880"/>
            </a:xfrm>
            <a:custGeom>
              <a:avLst/>
              <a:gdLst/>
              <a:ahLst/>
              <a:cxnLst/>
              <a:rect l="l" t="t" r="r" b="b"/>
              <a:pathLst>
                <a:path w="2976880" h="2976880">
                  <a:moveTo>
                    <a:pt x="0" y="1488440"/>
                  </a:moveTo>
                  <a:cubicBezTo>
                    <a:pt x="0" y="666369"/>
                    <a:pt x="666369" y="0"/>
                    <a:pt x="1488440" y="0"/>
                  </a:cubicBezTo>
                  <a:cubicBezTo>
                    <a:pt x="2310511" y="0"/>
                    <a:pt x="2976880" y="666369"/>
                    <a:pt x="2976880" y="1488440"/>
                  </a:cubicBezTo>
                  <a:cubicBezTo>
                    <a:pt x="2976880" y="2310511"/>
                    <a:pt x="2310511" y="2976880"/>
                    <a:pt x="1488440" y="2976880"/>
                  </a:cubicBezTo>
                  <a:cubicBezTo>
                    <a:pt x="666369" y="2976880"/>
                    <a:pt x="0" y="2310511"/>
                    <a:pt x="0" y="1488440"/>
                  </a:cubicBezTo>
                  <a:close/>
                </a:path>
              </a:pathLst>
            </a:custGeom>
            <a:solidFill>
              <a:srgbClr val="F3E7CF"/>
            </a:solidFill>
            <a:ln w="38100" cap="sq">
              <a:solidFill>
                <a:srgbClr val="F5C83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02052" y="3730752"/>
            <a:ext cx="1865376" cy="1865376"/>
            <a:chOff x="0" y="0"/>
            <a:chExt cx="2487168" cy="2487168"/>
          </a:xfrm>
        </p:grpSpPr>
        <p:sp>
          <p:nvSpPr>
            <p:cNvPr id="18" name="Freeform 18" descr="/home/claude/build/img/av_jiwoo.png"/>
            <p:cNvSpPr/>
            <p:nvPr/>
          </p:nvSpPr>
          <p:spPr>
            <a:xfrm>
              <a:off x="0" y="0"/>
              <a:ext cx="2487168" cy="2487168"/>
            </a:xfrm>
            <a:custGeom>
              <a:avLst/>
              <a:gdLst/>
              <a:ahLst/>
              <a:cxnLst/>
              <a:rect l="l" t="t" r="r" b="b"/>
              <a:pathLst>
                <a:path w="2487168" h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2487168"/>
                  </a:lnTo>
                  <a:lnTo>
                    <a:pt x="0" y="2487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83380" y="5006340"/>
            <a:ext cx="754380" cy="754380"/>
            <a:chOff x="0" y="0"/>
            <a:chExt cx="1005840" cy="1005840"/>
          </a:xfrm>
        </p:grpSpPr>
        <p:sp>
          <p:nvSpPr>
            <p:cNvPr id="20" name="Freeform 20" descr="/home/claude/build/img/av_b_sigh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7280" y="5925312"/>
            <a:ext cx="5074920" cy="548640"/>
            <a:chOff x="0" y="0"/>
            <a:chExt cx="676656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66560" cy="731520"/>
            </a:xfrm>
            <a:custGeom>
              <a:avLst/>
              <a:gdLst/>
              <a:ahLst/>
              <a:cxnLst/>
              <a:rect l="l" t="t" r="r" b="b"/>
              <a:pathLst>
                <a:path w="6766560" h="73152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0236" b="-13023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676656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한지우 · 27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6473952"/>
            <a:ext cx="5074920" cy="411480"/>
            <a:chOff x="0" y="0"/>
            <a:chExt cx="6766560" cy="548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66560" cy="548640"/>
            </a:xfrm>
            <a:custGeom>
              <a:avLst/>
              <a:gdLst/>
              <a:ahLst/>
              <a:cxnLst/>
              <a:rect l="l" t="t" r="r" b="b"/>
              <a:pathLst>
                <a:path w="6766560" h="54864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0315" b="-1903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676656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직장생활 2년 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30655" y="7191375"/>
            <a:ext cx="4408170" cy="773430"/>
            <a:chOff x="0" y="0"/>
            <a:chExt cx="5877560" cy="10312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77560" cy="1031240"/>
            </a:xfrm>
            <a:custGeom>
              <a:avLst/>
              <a:gdLst/>
              <a:ahLst/>
              <a:cxnLst/>
              <a:rect l="l" t="t" r="r" b="b"/>
              <a:pathLst>
                <a:path w="587756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5361940" y="0"/>
                  </a:lnTo>
                  <a:cubicBezTo>
                    <a:pt x="5646674" y="0"/>
                    <a:pt x="5877560" y="230886"/>
                    <a:pt x="5877560" y="515620"/>
                  </a:cubicBezTo>
                  <a:cubicBezTo>
                    <a:pt x="5877560" y="800354"/>
                    <a:pt x="5646674" y="1031240"/>
                    <a:pt x="536194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EE500"/>
            </a:solidFill>
            <a:ln w="19050" cap="sq">
              <a:solidFill>
                <a:srgbClr val="FEE5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40180" y="7200900"/>
            <a:ext cx="4389120" cy="754380"/>
            <a:chOff x="0" y="0"/>
            <a:chExt cx="5852160" cy="10058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852160" cy="1005840"/>
            </a:xfrm>
            <a:custGeom>
              <a:avLst/>
              <a:gdLst/>
              <a:ahLst/>
              <a:cxnLst/>
              <a:rect l="l" t="t" r="r" b="b"/>
              <a:pathLst>
                <a:path w="5852160" h="100584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367" b="-6336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85216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“회사 다니면 다 그렇지 뭐 ㅋㅋ”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97280" y="8229600"/>
            <a:ext cx="5074920" cy="411480"/>
            <a:chOff x="0" y="0"/>
            <a:chExt cx="676656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766560" cy="548640"/>
            </a:xfrm>
            <a:custGeom>
              <a:avLst/>
              <a:gdLst/>
              <a:ahLst/>
              <a:cxnLst/>
              <a:rect l="l" t="t" r="r" b="b"/>
              <a:pathLst>
                <a:path w="6766560" h="54864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0315" b="-1903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676656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#퇴근 후 무기력   #주말 내내 누워 있음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4155" y="3145155"/>
            <a:ext cx="5162550" cy="5985510"/>
            <a:chOff x="0" y="0"/>
            <a:chExt cx="6883400" cy="79806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83400" cy="7980680"/>
            </a:xfrm>
            <a:custGeom>
              <a:avLst/>
              <a:gdLst/>
              <a:ahLst/>
              <a:cxnLst/>
              <a:rect l="l" t="t" r="r" b="b"/>
              <a:pathLst>
                <a:path w="6883400" h="7980680">
                  <a:moveTo>
                    <a:pt x="0" y="403860"/>
                  </a:moveTo>
                  <a:cubicBezTo>
                    <a:pt x="0" y="180848"/>
                    <a:pt x="180848" y="0"/>
                    <a:pt x="403860" y="0"/>
                  </a:cubicBezTo>
                  <a:lnTo>
                    <a:pt x="6479540" y="0"/>
                  </a:lnTo>
                  <a:cubicBezTo>
                    <a:pt x="6702552" y="0"/>
                    <a:pt x="6883400" y="180848"/>
                    <a:pt x="6883400" y="403860"/>
                  </a:cubicBezTo>
                  <a:lnTo>
                    <a:pt x="6883400" y="7576820"/>
                  </a:lnTo>
                  <a:cubicBezTo>
                    <a:pt x="6883400" y="7799832"/>
                    <a:pt x="6702552" y="7980680"/>
                    <a:pt x="6479540" y="7980680"/>
                  </a:cubicBezTo>
                  <a:lnTo>
                    <a:pt x="403860" y="7980680"/>
                  </a:lnTo>
                  <a:cubicBezTo>
                    <a:pt x="180848" y="7980680"/>
                    <a:pt x="0" y="7799832"/>
                    <a:pt x="0" y="75768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95160" y="3497580"/>
            <a:ext cx="4114800" cy="480060"/>
            <a:chOff x="0" y="0"/>
            <a:chExt cx="5486400" cy="6400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7014" b="-1170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4864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지우의 요즘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985635" y="4311015"/>
            <a:ext cx="787146" cy="787146"/>
            <a:chOff x="0" y="0"/>
            <a:chExt cx="1049528" cy="104952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49528" cy="1049528"/>
            </a:xfrm>
            <a:custGeom>
              <a:avLst/>
              <a:gdLst/>
              <a:ahLst/>
              <a:cxnLst/>
              <a:rect l="l" t="t" r="r" b="b"/>
              <a:pathLst>
                <a:path w="1049528" h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87184" y="4512564"/>
            <a:ext cx="384048" cy="384048"/>
            <a:chOff x="0" y="0"/>
            <a:chExt cx="512064" cy="512064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55280" y="4471416"/>
            <a:ext cx="3566160" cy="466344"/>
            <a:chOff x="0" y="0"/>
            <a:chExt cx="4754880" cy="6217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54880" cy="621792"/>
            </a:xfrm>
            <a:custGeom>
              <a:avLst/>
              <a:gdLst/>
              <a:ahLst/>
              <a:cxnLst/>
              <a:rect l="l" t="t" r="r" b="b"/>
              <a:pathLst>
                <a:path w="4754880" h="621792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9003" b="-990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퇴근하면 아무것도 하기 싫다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985635" y="5476875"/>
            <a:ext cx="787146" cy="787146"/>
            <a:chOff x="0" y="0"/>
            <a:chExt cx="1049528" cy="104952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49528" cy="1049528"/>
            </a:xfrm>
            <a:custGeom>
              <a:avLst/>
              <a:gdLst/>
              <a:ahLst/>
              <a:cxnLst/>
              <a:rect l="l" t="t" r="r" b="b"/>
              <a:pathLst>
                <a:path w="1049528" h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87184" y="5678424"/>
            <a:ext cx="384048" cy="384048"/>
            <a:chOff x="0" y="0"/>
            <a:chExt cx="512064" cy="512064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955280" y="5637276"/>
            <a:ext cx="3566160" cy="466344"/>
            <a:chOff x="0" y="0"/>
            <a:chExt cx="4754880" cy="6217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754880" cy="621792"/>
            </a:xfrm>
            <a:custGeom>
              <a:avLst/>
              <a:gdLst/>
              <a:ahLst/>
              <a:cxnLst/>
              <a:rect l="l" t="t" r="r" b="b"/>
              <a:pathLst>
                <a:path w="4754880" h="621792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9003" b="-990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주말엔 하루 종일 누워 있다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985635" y="6642735"/>
            <a:ext cx="787146" cy="787146"/>
            <a:chOff x="0" y="0"/>
            <a:chExt cx="1049528" cy="104952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49528" cy="1049528"/>
            </a:xfrm>
            <a:custGeom>
              <a:avLst/>
              <a:gdLst/>
              <a:ahLst/>
              <a:cxnLst/>
              <a:rect l="l" t="t" r="r" b="b"/>
              <a:pathLst>
                <a:path w="1049528" h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187184" y="6844284"/>
            <a:ext cx="384048" cy="384048"/>
            <a:chOff x="0" y="0"/>
            <a:chExt cx="512064" cy="512064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955280" y="6624828"/>
            <a:ext cx="3566160" cy="466344"/>
            <a:chOff x="0" y="0"/>
            <a:chExt cx="4754880" cy="6217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754880" cy="621792"/>
            </a:xfrm>
            <a:custGeom>
              <a:avLst/>
              <a:gdLst/>
              <a:ahLst/>
              <a:cxnLst/>
              <a:rect l="l" t="t" r="r" b="b"/>
              <a:pathLst>
                <a:path w="4754880" h="621792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9003" b="-990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상담을 검색해 봤다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955280" y="7063740"/>
            <a:ext cx="3566160" cy="384048"/>
            <a:chOff x="0" y="0"/>
            <a:chExt cx="4754880" cy="51206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754880" cy="512064"/>
            </a:xfrm>
            <a:custGeom>
              <a:avLst/>
              <a:gdLst/>
              <a:ahLst/>
              <a:cxnLst/>
              <a:rect l="l" t="t" r="r" b="b"/>
              <a:pathLst>
                <a:path w="4754880" h="512064">
                  <a:moveTo>
                    <a:pt x="0" y="0"/>
                  </a:moveTo>
                  <a:lnTo>
                    <a:pt x="4754880" y="0"/>
                  </a:lnTo>
                  <a:lnTo>
                    <a:pt x="4754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0932" b="-13093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475488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A0927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✕ 예약은 안 함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985635" y="7808595"/>
            <a:ext cx="787146" cy="787146"/>
            <a:chOff x="0" y="0"/>
            <a:chExt cx="1049528" cy="104952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49528" cy="1049528"/>
            </a:xfrm>
            <a:custGeom>
              <a:avLst/>
              <a:gdLst/>
              <a:ahLst/>
              <a:cxnLst/>
              <a:rect l="l" t="t" r="r" b="b"/>
              <a:pathLst>
                <a:path w="1049528" h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187184" y="8010144"/>
            <a:ext cx="384048" cy="384048"/>
            <a:chOff x="0" y="0"/>
            <a:chExt cx="512064" cy="512064"/>
          </a:xfrm>
        </p:grpSpPr>
        <p:sp>
          <p:nvSpPr>
            <p:cNvPr id="67" name="Freeform 67" descr="preencoded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955280" y="7790688"/>
            <a:ext cx="3566160" cy="466344"/>
            <a:chOff x="0" y="0"/>
            <a:chExt cx="4754880" cy="62179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754880" cy="621792"/>
            </a:xfrm>
            <a:custGeom>
              <a:avLst/>
              <a:gdLst/>
              <a:ahLst/>
              <a:cxnLst/>
              <a:rect l="l" t="t" r="r" b="b"/>
              <a:pathLst>
                <a:path w="4754880" h="621792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9003" b="-990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인스타 심리테스트는 바로 한다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955280" y="8229600"/>
            <a:ext cx="3566160" cy="384048"/>
            <a:chOff x="0" y="0"/>
            <a:chExt cx="4754880" cy="51206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754880" cy="512064"/>
            </a:xfrm>
            <a:custGeom>
              <a:avLst/>
              <a:gdLst/>
              <a:ahLst/>
              <a:cxnLst/>
              <a:rect l="l" t="t" r="r" b="b"/>
              <a:pathLst>
                <a:path w="4754880" h="512064">
                  <a:moveTo>
                    <a:pt x="0" y="0"/>
                  </a:moveTo>
                  <a:lnTo>
                    <a:pt x="4754880" y="0"/>
                  </a:lnTo>
                  <a:lnTo>
                    <a:pt x="4754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0932" b="-13093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475488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○ 부담 없음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138660" y="3154680"/>
            <a:ext cx="5074920" cy="480060"/>
            <a:chOff x="0" y="0"/>
            <a:chExt cx="6766560" cy="6400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766560" cy="640080"/>
            </a:xfrm>
            <a:custGeom>
              <a:avLst/>
              <a:gdLst/>
              <a:ahLst/>
              <a:cxnLst/>
              <a:rect l="l" t="t" r="r" b="b"/>
              <a:pathLst>
                <a:path w="6766560" h="640080">
                  <a:moveTo>
                    <a:pt x="0" y="0"/>
                  </a:moveTo>
                  <a:lnTo>
                    <a:pt x="6766560" y="0"/>
                  </a:lnTo>
                  <a:lnTo>
                    <a:pt x="6766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5984" b="-15598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67665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지우에게 필요한 것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129135" y="3830955"/>
            <a:ext cx="5093970" cy="1596390"/>
            <a:chOff x="0" y="0"/>
            <a:chExt cx="6791960" cy="212852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791960" cy="2128520"/>
            </a:xfrm>
            <a:custGeom>
              <a:avLst/>
              <a:gdLst/>
              <a:ahLst/>
              <a:cxnLst/>
              <a:rect l="l" t="t" r="r" b="b"/>
              <a:pathLst>
                <a:path w="6791960" h="2128520">
                  <a:moveTo>
                    <a:pt x="0" y="370205"/>
                  </a:moveTo>
                  <a:cubicBezTo>
                    <a:pt x="0" y="165735"/>
                    <a:pt x="165735" y="0"/>
                    <a:pt x="370205" y="0"/>
                  </a:cubicBezTo>
                  <a:lnTo>
                    <a:pt x="6421755" y="0"/>
                  </a:lnTo>
                  <a:cubicBezTo>
                    <a:pt x="6626225" y="0"/>
                    <a:pt x="6791960" y="165735"/>
                    <a:pt x="6791960" y="370205"/>
                  </a:cubicBezTo>
                  <a:lnTo>
                    <a:pt x="6791960" y="1758315"/>
                  </a:lnTo>
                  <a:cubicBezTo>
                    <a:pt x="6791960" y="1962785"/>
                    <a:pt x="6626225" y="2128520"/>
                    <a:pt x="6421755" y="2128520"/>
                  </a:cubicBezTo>
                  <a:lnTo>
                    <a:pt x="370205" y="2128520"/>
                  </a:lnTo>
                  <a:cubicBezTo>
                    <a:pt x="165735" y="2128520"/>
                    <a:pt x="0" y="1962785"/>
                    <a:pt x="0" y="1758315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412980" y="3840480"/>
            <a:ext cx="548640" cy="1577340"/>
            <a:chOff x="0" y="0"/>
            <a:chExt cx="731520" cy="21031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31520" cy="2103120"/>
            </a:xfrm>
            <a:custGeom>
              <a:avLst/>
              <a:gdLst/>
              <a:ahLst/>
              <a:cxnLst/>
              <a:rect l="l" t="t" r="r" b="b"/>
              <a:pathLst>
                <a:path w="731520" h="2103120">
                  <a:moveTo>
                    <a:pt x="0" y="0"/>
                  </a:moveTo>
                  <a:lnTo>
                    <a:pt x="731520" y="0"/>
                  </a:lnTo>
                  <a:lnTo>
                    <a:pt x="731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872" r="-31887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9525"/>
              <a:ext cx="73152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B5A68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✕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961620" y="3840480"/>
            <a:ext cx="4114800" cy="1577340"/>
            <a:chOff x="0" y="0"/>
            <a:chExt cx="5486400" cy="21031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486400" cy="2103120"/>
            </a:xfrm>
            <a:custGeom>
              <a:avLst/>
              <a:gdLst/>
              <a:ahLst/>
              <a:cxnLst/>
              <a:rect l="l" t="t" r="r" b="b"/>
              <a:pathLst>
                <a:path w="5486400" h="2103120">
                  <a:moveTo>
                    <a:pt x="0" y="0"/>
                  </a:moveTo>
                  <a:lnTo>
                    <a:pt x="5486400" y="0"/>
                  </a:lnTo>
                  <a:lnTo>
                    <a:pt x="54864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30" b="-83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548640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strike="sng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“당신은 우울 위험군입니다”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2129135" y="5682615"/>
            <a:ext cx="5093970" cy="3448050"/>
            <a:chOff x="0" y="0"/>
            <a:chExt cx="6791960" cy="45974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791960" cy="4597400"/>
            </a:xfrm>
            <a:custGeom>
              <a:avLst/>
              <a:gdLst/>
              <a:ahLst/>
              <a:cxnLst/>
              <a:rect l="l" t="t" r="r" b="b"/>
              <a:pathLst>
                <a:path w="6791960" h="4597400">
                  <a:moveTo>
                    <a:pt x="0" y="367792"/>
                  </a:moveTo>
                  <a:cubicBezTo>
                    <a:pt x="0" y="164719"/>
                    <a:pt x="164719" y="0"/>
                    <a:pt x="367792" y="0"/>
                  </a:cubicBezTo>
                  <a:lnTo>
                    <a:pt x="6424168" y="0"/>
                  </a:lnTo>
                  <a:cubicBezTo>
                    <a:pt x="6627241" y="0"/>
                    <a:pt x="6791960" y="164719"/>
                    <a:pt x="6791960" y="367792"/>
                  </a:cubicBezTo>
                  <a:lnTo>
                    <a:pt x="6791960" y="4229608"/>
                  </a:lnTo>
                  <a:cubicBezTo>
                    <a:pt x="6791960" y="4432681"/>
                    <a:pt x="6627241" y="4597400"/>
                    <a:pt x="6424168" y="4597400"/>
                  </a:cubicBezTo>
                  <a:lnTo>
                    <a:pt x="367792" y="4597400"/>
                  </a:lnTo>
                  <a:cubicBezTo>
                    <a:pt x="164719" y="4597400"/>
                    <a:pt x="0" y="4432681"/>
                    <a:pt x="0" y="4229608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412980" y="5966460"/>
            <a:ext cx="548640" cy="548640"/>
            <a:chOff x="0" y="0"/>
            <a:chExt cx="731520" cy="73152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7A5A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961620" y="5966460"/>
            <a:ext cx="4114800" cy="548640"/>
            <a:chOff x="0" y="0"/>
            <a:chExt cx="5486400" cy="7315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54864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“오늘 이런 마음이었구나”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2412980" y="6981444"/>
            <a:ext cx="548640" cy="548640"/>
            <a:chOff x="0" y="0"/>
            <a:chExt cx="731520" cy="73152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7A5A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2961620" y="6926580"/>
            <a:ext cx="4114800" cy="1028700"/>
            <a:chOff x="0" y="0"/>
            <a:chExt cx="5486400" cy="13716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486400" cy="1371600"/>
            </a:xfrm>
            <a:custGeom>
              <a:avLst/>
              <a:gdLst/>
              <a:ahLst/>
              <a:cxnLst/>
              <a:rect l="l" t="t" r="r" b="b"/>
              <a:pathLst>
                <a:path w="5486400" h="1371600">
                  <a:moveTo>
                    <a:pt x="0" y="0"/>
                  </a:moveTo>
                  <a:lnTo>
                    <a:pt x="5486400" y="0"/>
                  </a:lnTo>
                  <a:lnTo>
                    <a:pt x="5486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54864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1"/>
                </a:lnSpc>
              </a:pPr>
              <a:r>
                <a:rPr lang="en-US" sz="21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“비슷한 마음을 가진 사람이</a:t>
              </a:r>
            </a:p>
            <a:p>
              <a:pPr algn="l">
                <a:lnSpc>
                  <a:spcPts val="2871"/>
                </a:lnSpc>
              </a:pPr>
              <a:r>
                <a:rPr lang="en-US" sz="21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이런 편지를 받았어요”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2412980" y="8298180"/>
            <a:ext cx="4526280" cy="480060"/>
            <a:chOff x="0" y="0"/>
            <a:chExt cx="6035040" cy="64008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035040" cy="640080"/>
            </a:xfrm>
            <a:custGeom>
              <a:avLst/>
              <a:gdLst/>
              <a:ahLst/>
              <a:cxnLst/>
              <a:rect l="l" t="t" r="r" b="b"/>
              <a:pathLst>
                <a:path w="6035040" h="64008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716" b="-13371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9525"/>
              <a:ext cx="6035040" cy="630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A5A20"/>
                  </a:solidFill>
                  <a:latin typeface="Noto Sans"/>
                  <a:ea typeface="Noto Sans"/>
                  <a:cs typeface="Noto Sans"/>
                  <a:sym typeface="Noto Sans"/>
                </a:rPr>
                <a:t>진단이 아닌, 작은 확인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33772" y="411480"/>
            <a:ext cx="8229600" cy="480060"/>
            <a:chOff x="0" y="0"/>
            <a:chExt cx="10972800" cy="6400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630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6"/>
                </a:lnSpc>
              </a:pPr>
              <a:r>
                <a:rPr lang="en-US" sz="1730" b="1" spc="786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TARGET  ·  PERSONA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601200"/>
            <a:ext cx="822960" cy="411480"/>
            <a:chOff x="0" y="0"/>
            <a:chExt cx="1097280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07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7280" y="1245870"/>
            <a:ext cx="16092983" cy="736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4499" b="1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지우만의 이야기가 아닙니다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71600" y="2084832"/>
            <a:ext cx="15544343" cy="480060"/>
            <a:chOff x="0" y="0"/>
            <a:chExt cx="2072579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25791" cy="640080"/>
            </a:xfrm>
            <a:custGeom>
              <a:avLst/>
              <a:gdLst/>
              <a:ahLst/>
              <a:cxnLst/>
              <a:rect l="l" t="t" r="r" b="b"/>
              <a:pathLst>
                <a:path w="20725791" h="640080">
                  <a:moveTo>
                    <a:pt x="0" y="0"/>
                  </a:moveTo>
                  <a:lnTo>
                    <a:pt x="20725791" y="0"/>
                  </a:lnTo>
                  <a:lnTo>
                    <a:pt x="207257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0925" b="-5809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072579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온기레터 164편에 가장 많이 도착한 고민으로 그려본 세 명의 인물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07666" y="3200019"/>
            <a:ext cx="2625090" cy="512826"/>
            <a:chOff x="0" y="0"/>
            <a:chExt cx="3500120" cy="6837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00120" cy="683768"/>
            </a:xfrm>
            <a:custGeom>
              <a:avLst/>
              <a:gdLst/>
              <a:ahLst/>
              <a:cxnLst/>
              <a:rect l="l" t="t" r="r" b="b"/>
              <a:pathLst>
                <a:path w="3500120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158236" y="0"/>
                  </a:lnTo>
                  <a:cubicBezTo>
                    <a:pt x="3347085" y="0"/>
                    <a:pt x="3500120" y="153035"/>
                    <a:pt x="3500120" y="341884"/>
                  </a:cubicBezTo>
                  <a:cubicBezTo>
                    <a:pt x="3500120" y="530733"/>
                    <a:pt x="3347085" y="683768"/>
                    <a:pt x="31582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17191" y="3209544"/>
            <a:ext cx="2606040" cy="493776"/>
            <a:chOff x="0" y="0"/>
            <a:chExt cx="3474720" cy="6583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74720" cy="658368"/>
            </a:xfrm>
            <a:custGeom>
              <a:avLst/>
              <a:gdLst/>
              <a:ahLst/>
              <a:cxnLst/>
              <a:rect l="l" t="t" r="r" b="b"/>
              <a:pathLst>
                <a:path w="3474720" h="658368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837" b="-528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자존감·비교  16%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85621" y="3826764"/>
            <a:ext cx="4869180" cy="987552"/>
            <a:chOff x="0" y="0"/>
            <a:chExt cx="6492240" cy="13167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92240" cy="1316736"/>
            </a:xfrm>
            <a:custGeom>
              <a:avLst/>
              <a:gdLst/>
              <a:ahLst/>
              <a:cxnLst/>
              <a:rect l="l" t="t" r="r" b="b"/>
              <a:pathLst>
                <a:path w="6492240" h="1316736">
                  <a:moveTo>
                    <a:pt x="0" y="0"/>
                  </a:moveTo>
                  <a:lnTo>
                    <a:pt x="6492240" y="0"/>
                  </a:lnTo>
                  <a:lnTo>
                    <a:pt x="64922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072" b="-4607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6492240" cy="1326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“자꾸 다른 사람과</a:t>
              </a:r>
            </a:p>
            <a:p>
              <a:pPr algn="ctr">
                <a:lnSpc>
                  <a:spcPts val="2835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나를 비교하게 돼요”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6096" y="5257419"/>
            <a:ext cx="4888230" cy="2145030"/>
            <a:chOff x="0" y="0"/>
            <a:chExt cx="6517640" cy="28600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17640" cy="2860040"/>
            </a:xfrm>
            <a:custGeom>
              <a:avLst/>
              <a:gdLst/>
              <a:ahLst/>
              <a:cxnLst/>
              <a:rect l="l" t="t" r="r" b="b"/>
              <a:pathLst>
                <a:path w="6517640" h="2860040">
                  <a:moveTo>
                    <a:pt x="0" y="332105"/>
                  </a:moveTo>
                  <a:cubicBezTo>
                    <a:pt x="0" y="148717"/>
                    <a:pt x="148717" y="0"/>
                    <a:pt x="332105" y="0"/>
                  </a:cubicBezTo>
                  <a:lnTo>
                    <a:pt x="6185535" y="0"/>
                  </a:lnTo>
                  <a:cubicBezTo>
                    <a:pt x="6368923" y="0"/>
                    <a:pt x="6517640" y="148717"/>
                    <a:pt x="6517640" y="332105"/>
                  </a:cubicBezTo>
                  <a:lnTo>
                    <a:pt x="6517640" y="2527935"/>
                  </a:lnTo>
                  <a:cubicBezTo>
                    <a:pt x="6517640" y="2711323"/>
                    <a:pt x="6368923" y="2860040"/>
                    <a:pt x="6185535" y="2860040"/>
                  </a:cubicBezTo>
                  <a:lnTo>
                    <a:pt x="332105" y="2860040"/>
                  </a:lnTo>
                  <a:cubicBezTo>
                    <a:pt x="148717" y="2860040"/>
                    <a:pt x="0" y="2711323"/>
                    <a:pt x="0" y="25279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05836" y="4758309"/>
            <a:ext cx="1428750" cy="1428750"/>
            <a:chOff x="0" y="0"/>
            <a:chExt cx="1905000" cy="1905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3E7C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944139" y="4896612"/>
            <a:ext cx="1152144" cy="1152144"/>
            <a:chOff x="0" y="0"/>
            <a:chExt cx="1536192" cy="1536192"/>
          </a:xfrm>
        </p:grpSpPr>
        <p:sp>
          <p:nvSpPr>
            <p:cNvPr id="26" name="Freeform 26" descr="/home/claude/build/img/av_seoyeon2.png"/>
            <p:cNvSpPr/>
            <p:nvPr/>
          </p:nvSpPr>
          <p:spPr>
            <a:xfrm>
              <a:off x="0" y="0"/>
              <a:ext cx="1536192" cy="1536192"/>
            </a:xfrm>
            <a:custGeom>
              <a:avLst/>
              <a:gdLst/>
              <a:ahLst/>
              <a:cxnLst/>
              <a:rect l="l" t="t" r="r" b="b"/>
              <a:pathLst>
                <a:path w="1536192" h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21963" y="5678424"/>
            <a:ext cx="521208" cy="521208"/>
            <a:chOff x="0" y="0"/>
            <a:chExt cx="694944" cy="694944"/>
          </a:xfrm>
        </p:grpSpPr>
        <p:sp>
          <p:nvSpPr>
            <p:cNvPr id="28" name="Freeform 28" descr="/home/claude/build/img/av_b_tear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85621" y="6227064"/>
            <a:ext cx="4869180" cy="384048"/>
            <a:chOff x="0" y="0"/>
            <a:chExt cx="6492240" cy="5120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92240" cy="512064"/>
            </a:xfrm>
            <a:custGeom>
              <a:avLst/>
              <a:gdLst/>
              <a:ahLst/>
              <a:cxnLst/>
              <a:rect l="l" t="t" r="r" b="b"/>
              <a:pathLst>
                <a:path w="6492240" h="512064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7042" b="-1970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정서연 · 24 · 취업준비생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91361" y="6597396"/>
            <a:ext cx="4457700" cy="713232"/>
            <a:chOff x="0" y="0"/>
            <a:chExt cx="5943600" cy="9509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943600" cy="950976"/>
            </a:xfrm>
            <a:custGeom>
              <a:avLst/>
              <a:gdLst/>
              <a:ahLst/>
              <a:cxnLst/>
              <a:rect l="l" t="t" r="r" b="b"/>
              <a:pathLst>
                <a:path w="5943600" h="950976">
                  <a:moveTo>
                    <a:pt x="0" y="0"/>
                  </a:moveTo>
                  <a:lnTo>
                    <a:pt x="5943600" y="0"/>
                  </a:lnTo>
                  <a:lnTo>
                    <a:pt x="5943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943600" cy="950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친구들 합격 소식엔 축하를 보내지만,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정작 내 얘기는 꺼내지 못해요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85621" y="7447788"/>
            <a:ext cx="4869180" cy="356616"/>
            <a:chOff x="0" y="0"/>
            <a:chExt cx="6492240" cy="4754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92240" cy="475488"/>
            </a:xfrm>
            <a:custGeom>
              <a:avLst/>
              <a:gdLst/>
              <a:ahLst/>
              <a:cxnLst/>
              <a:rect l="l" t="t" r="r" b="b"/>
              <a:pathLst>
                <a:path w="6492240" h="475488">
                  <a:moveTo>
                    <a:pt x="0" y="0"/>
                  </a:moveTo>
                  <a:lnTo>
                    <a:pt x="6492240" y="0"/>
                  </a:lnTo>
                  <a:lnTo>
                    <a:pt x="649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045" b="-21604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6492240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▼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76096" y="7822311"/>
            <a:ext cx="4888230" cy="1143762"/>
            <a:chOff x="0" y="0"/>
            <a:chExt cx="6517640" cy="15250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17640" cy="1525016"/>
            </a:xfrm>
            <a:custGeom>
              <a:avLst/>
              <a:gdLst/>
              <a:ahLst/>
              <a:cxnLst/>
              <a:rect l="l" t="t" r="r" b="b"/>
              <a:pathLst>
                <a:path w="6517640" h="1525016">
                  <a:moveTo>
                    <a:pt x="0" y="297561"/>
                  </a:moveTo>
                  <a:cubicBezTo>
                    <a:pt x="0" y="133223"/>
                    <a:pt x="133223" y="0"/>
                    <a:pt x="297561" y="0"/>
                  </a:cubicBezTo>
                  <a:lnTo>
                    <a:pt x="6220079" y="0"/>
                  </a:lnTo>
                  <a:cubicBezTo>
                    <a:pt x="6384417" y="0"/>
                    <a:pt x="6517640" y="133223"/>
                    <a:pt x="6517640" y="297561"/>
                  </a:cubicBezTo>
                  <a:lnTo>
                    <a:pt x="6517640" y="1227455"/>
                  </a:lnTo>
                  <a:cubicBezTo>
                    <a:pt x="6517640" y="1391793"/>
                    <a:pt x="6384417" y="1525016"/>
                    <a:pt x="6220079" y="1525016"/>
                  </a:cubicBezTo>
                  <a:lnTo>
                    <a:pt x="297561" y="1525016"/>
                  </a:lnTo>
                  <a:cubicBezTo>
                    <a:pt x="133223" y="1525016"/>
                    <a:pt x="0" y="1391793"/>
                    <a:pt x="0" y="1227455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85621" y="7831836"/>
            <a:ext cx="4869180" cy="1124712"/>
            <a:chOff x="0" y="0"/>
            <a:chExt cx="6492240" cy="14996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492240" cy="1499616"/>
            </a:xfrm>
            <a:custGeom>
              <a:avLst/>
              <a:gdLst/>
              <a:ahLst/>
              <a:cxnLst/>
              <a:rect l="l" t="t" r="r" b="b"/>
              <a:pathLst>
                <a:path w="6492240" h="1499616">
                  <a:moveTo>
                    <a:pt x="0" y="0"/>
                  </a:moveTo>
                  <a:lnTo>
                    <a:pt x="6492240" y="0"/>
                  </a:lnTo>
                  <a:lnTo>
                    <a:pt x="649224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355" b="-343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492240" cy="15186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75"/>
                </a:lnSpc>
              </a:pPr>
              <a:r>
                <a:rPr lang="en-US" sz="18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#나만 그런 게 아니라는 확인</a:t>
              </a:r>
            </a:p>
            <a:p>
              <a:pPr algn="ctr">
                <a:lnSpc>
                  <a:spcPts val="2475"/>
                </a:lnSpc>
              </a:pPr>
              <a:r>
                <a:rPr lang="en-US" sz="18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#비교 없는 조용한 공간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31226" y="3200019"/>
            <a:ext cx="2625090" cy="512826"/>
            <a:chOff x="0" y="0"/>
            <a:chExt cx="3500120" cy="68376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500120" cy="683768"/>
            </a:xfrm>
            <a:custGeom>
              <a:avLst/>
              <a:gdLst/>
              <a:ahLst/>
              <a:cxnLst/>
              <a:rect l="l" t="t" r="r" b="b"/>
              <a:pathLst>
                <a:path w="3500120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158236" y="0"/>
                  </a:lnTo>
                  <a:cubicBezTo>
                    <a:pt x="3347085" y="0"/>
                    <a:pt x="3500120" y="153035"/>
                    <a:pt x="3500120" y="341884"/>
                  </a:cubicBezTo>
                  <a:cubicBezTo>
                    <a:pt x="3500120" y="530733"/>
                    <a:pt x="3347085" y="683768"/>
                    <a:pt x="31582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40751" y="3209544"/>
            <a:ext cx="2606040" cy="493776"/>
            <a:chOff x="0" y="0"/>
            <a:chExt cx="3474720" cy="65836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474720" cy="658368"/>
            </a:xfrm>
            <a:custGeom>
              <a:avLst/>
              <a:gdLst/>
              <a:ahLst/>
              <a:cxnLst/>
              <a:rect l="l" t="t" r="r" b="b"/>
              <a:pathLst>
                <a:path w="3474720" h="658368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837" b="-528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일·진로  16%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709181" y="3826764"/>
            <a:ext cx="4869180" cy="987552"/>
            <a:chOff x="0" y="0"/>
            <a:chExt cx="6492240" cy="131673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492240" cy="1316736"/>
            </a:xfrm>
            <a:custGeom>
              <a:avLst/>
              <a:gdLst/>
              <a:ahLst/>
              <a:cxnLst/>
              <a:rect l="l" t="t" r="r" b="b"/>
              <a:pathLst>
                <a:path w="6492240" h="1316736">
                  <a:moveTo>
                    <a:pt x="0" y="0"/>
                  </a:moveTo>
                  <a:lnTo>
                    <a:pt x="6492240" y="0"/>
                  </a:lnTo>
                  <a:lnTo>
                    <a:pt x="64922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072" b="-4607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6492240" cy="1326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“열심히 하는데 잘하고</a:t>
              </a:r>
            </a:p>
            <a:p>
              <a:pPr algn="ctr">
                <a:lnSpc>
                  <a:spcPts val="2835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있는지 모르겠어요”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99656" y="5257419"/>
            <a:ext cx="4888230" cy="2145030"/>
            <a:chOff x="0" y="0"/>
            <a:chExt cx="6517640" cy="28600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517640" cy="2860040"/>
            </a:xfrm>
            <a:custGeom>
              <a:avLst/>
              <a:gdLst/>
              <a:ahLst/>
              <a:cxnLst/>
              <a:rect l="l" t="t" r="r" b="b"/>
              <a:pathLst>
                <a:path w="6517640" h="2860040">
                  <a:moveTo>
                    <a:pt x="0" y="332105"/>
                  </a:moveTo>
                  <a:cubicBezTo>
                    <a:pt x="0" y="148717"/>
                    <a:pt x="148717" y="0"/>
                    <a:pt x="332105" y="0"/>
                  </a:cubicBezTo>
                  <a:lnTo>
                    <a:pt x="6185535" y="0"/>
                  </a:lnTo>
                  <a:cubicBezTo>
                    <a:pt x="6368923" y="0"/>
                    <a:pt x="6517640" y="148717"/>
                    <a:pt x="6517640" y="332105"/>
                  </a:cubicBezTo>
                  <a:lnTo>
                    <a:pt x="6517640" y="2527935"/>
                  </a:lnTo>
                  <a:cubicBezTo>
                    <a:pt x="6517640" y="2711323"/>
                    <a:pt x="6368923" y="2860040"/>
                    <a:pt x="6185535" y="2860040"/>
                  </a:cubicBezTo>
                  <a:lnTo>
                    <a:pt x="332105" y="2860040"/>
                  </a:lnTo>
                  <a:cubicBezTo>
                    <a:pt x="148717" y="2860040"/>
                    <a:pt x="0" y="2711323"/>
                    <a:pt x="0" y="25279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429396" y="4758309"/>
            <a:ext cx="1428750" cy="1428750"/>
            <a:chOff x="0" y="0"/>
            <a:chExt cx="1905000" cy="1905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3E7C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67699" y="4896612"/>
            <a:ext cx="1152144" cy="1152144"/>
            <a:chOff x="0" y="0"/>
            <a:chExt cx="1536192" cy="1536192"/>
          </a:xfrm>
        </p:grpSpPr>
        <p:sp>
          <p:nvSpPr>
            <p:cNvPr id="56" name="Freeform 56" descr="/home/claude/build/img/av_jiwoo.png"/>
            <p:cNvSpPr/>
            <p:nvPr/>
          </p:nvSpPr>
          <p:spPr>
            <a:xfrm>
              <a:off x="0" y="0"/>
              <a:ext cx="1536192" cy="1536192"/>
            </a:xfrm>
            <a:custGeom>
              <a:avLst/>
              <a:gdLst/>
              <a:ahLst/>
              <a:cxnLst/>
              <a:rect l="l" t="t" r="r" b="b"/>
              <a:pathLst>
                <a:path w="1536192" h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445523" y="5678424"/>
            <a:ext cx="521208" cy="521208"/>
            <a:chOff x="0" y="0"/>
            <a:chExt cx="694944" cy="694944"/>
          </a:xfrm>
        </p:grpSpPr>
        <p:sp>
          <p:nvSpPr>
            <p:cNvPr id="58" name="Freeform 58" descr="/home/claude/build/img/av_b_sigh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709181" y="6227064"/>
            <a:ext cx="4869180" cy="384048"/>
            <a:chOff x="0" y="0"/>
            <a:chExt cx="6492240" cy="51206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492240" cy="512064"/>
            </a:xfrm>
            <a:custGeom>
              <a:avLst/>
              <a:gdLst/>
              <a:ahLst/>
              <a:cxnLst/>
              <a:rect l="l" t="t" r="r" b="b"/>
              <a:pathLst>
                <a:path w="6492240" h="512064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7042" b="-1970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한지우 · 27 · 직장 2년 차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914921" y="6597396"/>
            <a:ext cx="4457700" cy="713232"/>
            <a:chOff x="0" y="0"/>
            <a:chExt cx="5943600" cy="95097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943600" cy="950976"/>
            </a:xfrm>
            <a:custGeom>
              <a:avLst/>
              <a:gdLst/>
              <a:ahLst/>
              <a:cxnLst/>
              <a:rect l="l" t="t" r="r" b="b"/>
              <a:pathLst>
                <a:path w="5943600" h="950976">
                  <a:moveTo>
                    <a:pt x="0" y="0"/>
                  </a:moveTo>
                  <a:lnTo>
                    <a:pt x="5943600" y="0"/>
                  </a:lnTo>
                  <a:lnTo>
                    <a:pt x="5943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5943600" cy="950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퇴근하면 아무것도 하기 싫지만,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괜찮냐는 말엔 “다 그렇지 뭐”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709181" y="7447788"/>
            <a:ext cx="4869180" cy="356616"/>
            <a:chOff x="0" y="0"/>
            <a:chExt cx="6492240" cy="47548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492240" cy="475488"/>
            </a:xfrm>
            <a:custGeom>
              <a:avLst/>
              <a:gdLst/>
              <a:ahLst/>
              <a:cxnLst/>
              <a:rect l="l" t="t" r="r" b="b"/>
              <a:pathLst>
                <a:path w="6492240" h="475488">
                  <a:moveTo>
                    <a:pt x="0" y="0"/>
                  </a:moveTo>
                  <a:lnTo>
                    <a:pt x="6492240" y="0"/>
                  </a:lnTo>
                  <a:lnTo>
                    <a:pt x="649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045" b="-21604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6492240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▼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99656" y="7822311"/>
            <a:ext cx="4888230" cy="1143762"/>
            <a:chOff x="0" y="0"/>
            <a:chExt cx="6517640" cy="152501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517640" cy="1525016"/>
            </a:xfrm>
            <a:custGeom>
              <a:avLst/>
              <a:gdLst/>
              <a:ahLst/>
              <a:cxnLst/>
              <a:rect l="l" t="t" r="r" b="b"/>
              <a:pathLst>
                <a:path w="6517640" h="1525016">
                  <a:moveTo>
                    <a:pt x="0" y="297561"/>
                  </a:moveTo>
                  <a:cubicBezTo>
                    <a:pt x="0" y="133223"/>
                    <a:pt x="133223" y="0"/>
                    <a:pt x="297561" y="0"/>
                  </a:cubicBezTo>
                  <a:lnTo>
                    <a:pt x="6220079" y="0"/>
                  </a:lnTo>
                  <a:cubicBezTo>
                    <a:pt x="6384417" y="0"/>
                    <a:pt x="6517640" y="133223"/>
                    <a:pt x="6517640" y="297561"/>
                  </a:cubicBezTo>
                  <a:lnTo>
                    <a:pt x="6517640" y="1227455"/>
                  </a:lnTo>
                  <a:cubicBezTo>
                    <a:pt x="6517640" y="1391793"/>
                    <a:pt x="6384417" y="1525016"/>
                    <a:pt x="6220079" y="1525016"/>
                  </a:cubicBezTo>
                  <a:lnTo>
                    <a:pt x="297561" y="1525016"/>
                  </a:lnTo>
                  <a:cubicBezTo>
                    <a:pt x="133223" y="1525016"/>
                    <a:pt x="0" y="1391793"/>
                    <a:pt x="0" y="1227455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709181" y="7831836"/>
            <a:ext cx="4869180" cy="1124712"/>
            <a:chOff x="0" y="0"/>
            <a:chExt cx="6492240" cy="14996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92240" cy="1499616"/>
            </a:xfrm>
            <a:custGeom>
              <a:avLst/>
              <a:gdLst/>
              <a:ahLst/>
              <a:cxnLst/>
              <a:rect l="l" t="t" r="r" b="b"/>
              <a:pathLst>
                <a:path w="6492240" h="1499616">
                  <a:moveTo>
                    <a:pt x="0" y="0"/>
                  </a:moveTo>
                  <a:lnTo>
                    <a:pt x="6492240" y="0"/>
                  </a:lnTo>
                  <a:lnTo>
                    <a:pt x="649224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355" b="-343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6492240" cy="15186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75"/>
                </a:lnSpc>
              </a:pPr>
              <a:r>
                <a:rPr lang="en-US" sz="18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#진단 말고 가벼운 안부</a:t>
              </a:r>
            </a:p>
            <a:p>
              <a:pPr algn="ctr">
                <a:lnSpc>
                  <a:spcPts val="2475"/>
                </a:lnSpc>
              </a:pPr>
              <a:r>
                <a:rPr lang="en-US" sz="18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#부담 없는 첫걸음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454786" y="3200019"/>
            <a:ext cx="2625090" cy="512826"/>
            <a:chOff x="0" y="0"/>
            <a:chExt cx="3500120" cy="68376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500120" cy="683768"/>
            </a:xfrm>
            <a:custGeom>
              <a:avLst/>
              <a:gdLst/>
              <a:ahLst/>
              <a:cxnLst/>
              <a:rect l="l" t="t" r="r" b="b"/>
              <a:pathLst>
                <a:path w="3500120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158236" y="0"/>
                  </a:lnTo>
                  <a:cubicBezTo>
                    <a:pt x="3347085" y="0"/>
                    <a:pt x="3500120" y="153035"/>
                    <a:pt x="3500120" y="341884"/>
                  </a:cubicBezTo>
                  <a:cubicBezTo>
                    <a:pt x="3500120" y="530733"/>
                    <a:pt x="3347085" y="683768"/>
                    <a:pt x="31582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464311" y="3209544"/>
            <a:ext cx="2606040" cy="493776"/>
            <a:chOff x="0" y="0"/>
            <a:chExt cx="3474720" cy="65836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474720" cy="658368"/>
            </a:xfrm>
            <a:custGeom>
              <a:avLst/>
              <a:gdLst/>
              <a:ahLst/>
              <a:cxnLst/>
              <a:rect l="l" t="t" r="r" b="b"/>
              <a:pathLst>
                <a:path w="3474720" h="658368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837" b="-528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연애·결혼  12%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332741" y="3826764"/>
            <a:ext cx="4869180" cy="987552"/>
            <a:chOff x="0" y="0"/>
            <a:chExt cx="6492240" cy="131673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492240" cy="1316736"/>
            </a:xfrm>
            <a:custGeom>
              <a:avLst/>
              <a:gdLst/>
              <a:ahLst/>
              <a:cxnLst/>
              <a:rect l="l" t="t" r="r" b="b"/>
              <a:pathLst>
                <a:path w="6492240" h="1316736">
                  <a:moveTo>
                    <a:pt x="0" y="0"/>
                  </a:moveTo>
                  <a:lnTo>
                    <a:pt x="6492240" y="0"/>
                  </a:lnTo>
                  <a:lnTo>
                    <a:pt x="64922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072" b="-4607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9525"/>
              <a:ext cx="6492240" cy="1326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“끝난 관계인데도</a:t>
              </a:r>
            </a:p>
            <a:p>
              <a:pPr algn="ctr">
                <a:lnSpc>
                  <a:spcPts val="2835"/>
                </a:lnSpc>
              </a:pPr>
              <a:r>
                <a:rPr lang="en-US" sz="225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자꾸 생각나요”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323216" y="5257419"/>
            <a:ext cx="4888230" cy="2145030"/>
            <a:chOff x="0" y="0"/>
            <a:chExt cx="6517640" cy="28600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6517640" cy="2860040"/>
            </a:xfrm>
            <a:custGeom>
              <a:avLst/>
              <a:gdLst/>
              <a:ahLst/>
              <a:cxnLst/>
              <a:rect l="l" t="t" r="r" b="b"/>
              <a:pathLst>
                <a:path w="6517640" h="2860040">
                  <a:moveTo>
                    <a:pt x="0" y="332105"/>
                  </a:moveTo>
                  <a:cubicBezTo>
                    <a:pt x="0" y="148717"/>
                    <a:pt x="148717" y="0"/>
                    <a:pt x="332105" y="0"/>
                  </a:cubicBezTo>
                  <a:lnTo>
                    <a:pt x="6185535" y="0"/>
                  </a:lnTo>
                  <a:cubicBezTo>
                    <a:pt x="6368923" y="0"/>
                    <a:pt x="6517640" y="148717"/>
                    <a:pt x="6517640" y="332105"/>
                  </a:cubicBezTo>
                  <a:lnTo>
                    <a:pt x="6517640" y="2527935"/>
                  </a:lnTo>
                  <a:cubicBezTo>
                    <a:pt x="6517640" y="2711323"/>
                    <a:pt x="6368923" y="2860040"/>
                    <a:pt x="6185535" y="2860040"/>
                  </a:cubicBezTo>
                  <a:lnTo>
                    <a:pt x="332105" y="2860040"/>
                  </a:lnTo>
                  <a:cubicBezTo>
                    <a:pt x="148717" y="2860040"/>
                    <a:pt x="0" y="2711323"/>
                    <a:pt x="0" y="25279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4052956" y="4758309"/>
            <a:ext cx="1428750" cy="1428750"/>
            <a:chOff x="0" y="0"/>
            <a:chExt cx="1905000" cy="19050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3E7C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4191259" y="4896612"/>
            <a:ext cx="1152144" cy="1152144"/>
            <a:chOff x="0" y="0"/>
            <a:chExt cx="1536192" cy="1536192"/>
          </a:xfrm>
        </p:grpSpPr>
        <p:sp>
          <p:nvSpPr>
            <p:cNvPr id="86" name="Freeform 86" descr="/home/claude/build/img/av_doyoon.png"/>
            <p:cNvSpPr/>
            <p:nvPr/>
          </p:nvSpPr>
          <p:spPr>
            <a:xfrm>
              <a:off x="0" y="0"/>
              <a:ext cx="1536192" cy="1536192"/>
            </a:xfrm>
            <a:custGeom>
              <a:avLst/>
              <a:gdLst/>
              <a:ahLst/>
              <a:cxnLst/>
              <a:rect l="l" t="t" r="r" b="b"/>
              <a:pathLst>
                <a:path w="1536192" h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5069083" y="5678424"/>
            <a:ext cx="521208" cy="521208"/>
            <a:chOff x="0" y="0"/>
            <a:chExt cx="694944" cy="694944"/>
          </a:xfrm>
        </p:grpSpPr>
        <p:sp>
          <p:nvSpPr>
            <p:cNvPr id="88" name="Freeform 88" descr="/home/claude/build/img/av_b_sad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332741" y="6227064"/>
            <a:ext cx="4869180" cy="384048"/>
            <a:chOff x="0" y="0"/>
            <a:chExt cx="6492240" cy="51206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492240" cy="512064"/>
            </a:xfrm>
            <a:custGeom>
              <a:avLst/>
              <a:gdLst/>
              <a:ahLst/>
              <a:cxnLst/>
              <a:rect l="l" t="t" r="r" b="b"/>
              <a:pathLst>
                <a:path w="6492240" h="512064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7042" b="-1970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김도윤 · 31 · 이별 석 달 차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538481" y="6597396"/>
            <a:ext cx="4457700" cy="713232"/>
            <a:chOff x="0" y="0"/>
            <a:chExt cx="5943600" cy="95097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943600" cy="950976"/>
            </a:xfrm>
            <a:custGeom>
              <a:avLst/>
              <a:gdLst/>
              <a:ahLst/>
              <a:cxnLst/>
              <a:rect l="l" t="t" r="r" b="b"/>
              <a:pathLst>
                <a:path w="5943600" h="950976">
                  <a:moveTo>
                    <a:pt x="0" y="0"/>
                  </a:moveTo>
                  <a:lnTo>
                    <a:pt x="5943600" y="0"/>
                  </a:lnTo>
                  <a:lnTo>
                    <a:pt x="5943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5943600" cy="950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이제 그만 잊으라는 말에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누구에게도 제대로 말하지 못했어요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2332741" y="7447788"/>
            <a:ext cx="4869180" cy="356616"/>
            <a:chOff x="0" y="0"/>
            <a:chExt cx="6492240" cy="47548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492240" cy="475488"/>
            </a:xfrm>
            <a:custGeom>
              <a:avLst/>
              <a:gdLst/>
              <a:ahLst/>
              <a:cxnLst/>
              <a:rect l="l" t="t" r="r" b="b"/>
              <a:pathLst>
                <a:path w="6492240" h="475488">
                  <a:moveTo>
                    <a:pt x="0" y="0"/>
                  </a:moveTo>
                  <a:lnTo>
                    <a:pt x="6492240" y="0"/>
                  </a:lnTo>
                  <a:lnTo>
                    <a:pt x="649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045" b="-21604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0"/>
              <a:ext cx="6492240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▼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2323216" y="7822311"/>
            <a:ext cx="4888230" cy="1143762"/>
            <a:chOff x="0" y="0"/>
            <a:chExt cx="6517640" cy="152501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517640" cy="1525016"/>
            </a:xfrm>
            <a:custGeom>
              <a:avLst/>
              <a:gdLst/>
              <a:ahLst/>
              <a:cxnLst/>
              <a:rect l="l" t="t" r="r" b="b"/>
              <a:pathLst>
                <a:path w="6517640" h="1525016">
                  <a:moveTo>
                    <a:pt x="0" y="297561"/>
                  </a:moveTo>
                  <a:cubicBezTo>
                    <a:pt x="0" y="133223"/>
                    <a:pt x="133223" y="0"/>
                    <a:pt x="297561" y="0"/>
                  </a:cubicBezTo>
                  <a:lnTo>
                    <a:pt x="6220079" y="0"/>
                  </a:lnTo>
                  <a:cubicBezTo>
                    <a:pt x="6384417" y="0"/>
                    <a:pt x="6517640" y="133223"/>
                    <a:pt x="6517640" y="297561"/>
                  </a:cubicBezTo>
                  <a:lnTo>
                    <a:pt x="6517640" y="1227455"/>
                  </a:lnTo>
                  <a:cubicBezTo>
                    <a:pt x="6517640" y="1391793"/>
                    <a:pt x="6384417" y="1525016"/>
                    <a:pt x="6220079" y="1525016"/>
                  </a:cubicBezTo>
                  <a:lnTo>
                    <a:pt x="297561" y="1525016"/>
                  </a:lnTo>
                  <a:cubicBezTo>
                    <a:pt x="133223" y="1525016"/>
                    <a:pt x="0" y="1391793"/>
                    <a:pt x="0" y="1227455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2332741" y="7831836"/>
            <a:ext cx="4869180" cy="1124712"/>
            <a:chOff x="0" y="0"/>
            <a:chExt cx="6492240" cy="149961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6492240" cy="1499616"/>
            </a:xfrm>
            <a:custGeom>
              <a:avLst/>
              <a:gdLst/>
              <a:ahLst/>
              <a:cxnLst/>
              <a:rect l="l" t="t" r="r" b="b"/>
              <a:pathLst>
                <a:path w="6492240" h="1499616">
                  <a:moveTo>
                    <a:pt x="0" y="0"/>
                  </a:moveTo>
                  <a:lnTo>
                    <a:pt x="6492240" y="0"/>
                  </a:lnTo>
                  <a:lnTo>
                    <a:pt x="649224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355" b="-343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19050"/>
              <a:ext cx="6492240" cy="15186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75"/>
                </a:lnSpc>
              </a:pPr>
              <a:r>
                <a:rPr lang="en-US" sz="18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#말하지 않아도 되는 위로</a:t>
              </a:r>
            </a:p>
            <a:p>
              <a:pPr algn="ctr">
                <a:lnSpc>
                  <a:spcPts val="2475"/>
                </a:lnSpc>
              </a:pPr>
              <a:r>
                <a:rPr lang="en-US" sz="1875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#언젠가 꺼낼 수 있는 곳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22960" y="9601200"/>
            <a:ext cx="15361920" cy="411480"/>
            <a:chOff x="0" y="0"/>
            <a:chExt cx="20482560" cy="54864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0482561" cy="548640"/>
            </a:xfrm>
            <a:custGeom>
              <a:avLst/>
              <a:gdLst/>
              <a:ahLst/>
              <a:cxnLst/>
              <a:rect l="l" t="t" r="r" b="b"/>
              <a:pathLst>
                <a:path w="20482561" h="548640">
                  <a:moveTo>
                    <a:pt x="0" y="0"/>
                  </a:moveTo>
                  <a:lnTo>
                    <a:pt x="20482561" y="0"/>
                  </a:lnTo>
                  <a:lnTo>
                    <a:pt x="204825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77441" b="-6774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9525"/>
              <a:ext cx="2048256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가상 페르소나 · 고민 비율: 온기레터 공개 아카이브(2022.7~2026.8) 164편 제목 기준 팀 자체 분류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0" y="-1524000"/>
            <a:ext cx="13335000" cy="13335000"/>
            <a:chOff x="0" y="0"/>
            <a:chExt cx="17780000" cy="1778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80000" cy="17780000"/>
            </a:xfrm>
            <a:custGeom>
              <a:avLst/>
              <a:gdLst/>
              <a:ahLst/>
              <a:cxnLst/>
              <a:rect l="l" t="t" r="r" b="b"/>
              <a:pathLst>
                <a:path w="17780000" h="17780000">
                  <a:moveTo>
                    <a:pt x="0" y="8890000"/>
                  </a:moveTo>
                  <a:cubicBezTo>
                    <a:pt x="0" y="3980180"/>
                    <a:pt x="3980180" y="0"/>
                    <a:pt x="8890000" y="0"/>
                  </a:cubicBezTo>
                  <a:cubicBezTo>
                    <a:pt x="13799820" y="0"/>
                    <a:pt x="17780000" y="3980180"/>
                    <a:pt x="17780000" y="8890000"/>
                  </a:cubicBezTo>
                  <a:cubicBezTo>
                    <a:pt x="17780000" y="13799820"/>
                    <a:pt x="13799820" y="17780000"/>
                    <a:pt x="8890000" y="17780000"/>
                  </a:cubicBezTo>
                  <a:cubicBezTo>
                    <a:pt x="3980180" y="17780000"/>
                    <a:pt x="0" y="13799820"/>
                    <a:pt x="0" y="8890000"/>
                  </a:cubicBezTo>
                  <a:close/>
                </a:path>
              </a:pathLst>
            </a:custGeom>
            <a:solidFill>
              <a:srgbClr val="FBE18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525250" y="381000"/>
            <a:ext cx="10096500" cy="10096500"/>
            <a:chOff x="0" y="0"/>
            <a:chExt cx="13462000" cy="13462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62000" cy="13462000"/>
            </a:xfrm>
            <a:custGeom>
              <a:avLst/>
              <a:gdLst/>
              <a:ahLst/>
              <a:cxnLst/>
              <a:rect l="l" t="t" r="r" b="b"/>
              <a:pathLst>
                <a:path w="13462000" h="13462000">
                  <a:moveTo>
                    <a:pt x="0" y="6731000"/>
                  </a:moveTo>
                  <a:cubicBezTo>
                    <a:pt x="0" y="3013583"/>
                    <a:pt x="3013583" y="0"/>
                    <a:pt x="6731000" y="0"/>
                  </a:cubicBezTo>
                  <a:cubicBezTo>
                    <a:pt x="10448417" y="0"/>
                    <a:pt x="13462000" y="3013583"/>
                    <a:pt x="13462000" y="6731000"/>
                  </a:cubicBezTo>
                  <a:cubicBezTo>
                    <a:pt x="13462000" y="10448417"/>
                    <a:pt x="10448417" y="13462000"/>
                    <a:pt x="6731000" y="13462000"/>
                  </a:cubicBezTo>
                  <a:cubicBezTo>
                    <a:pt x="3013583" y="13462000"/>
                    <a:pt x="0" y="10448417"/>
                    <a:pt x="0" y="6731000"/>
                  </a:cubicBezTo>
                  <a:close/>
                </a:path>
              </a:pathLst>
            </a:custGeom>
            <a:solidFill>
              <a:srgbClr val="FBE18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8750" y="876300"/>
            <a:ext cx="38100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675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SERVICE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0650" y="1419225"/>
            <a:ext cx="10191750" cy="3542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16"/>
              </a:lnSpc>
            </a:pPr>
            <a:r>
              <a:rPr lang="en-US" sz="7800" dirty="0" err="1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그래서</a:t>
            </a:r>
            <a:r>
              <a:rPr lang="en-US" sz="7800" dirty="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,</a:t>
            </a:r>
          </a:p>
          <a:p>
            <a:pPr algn="l">
              <a:lnSpc>
                <a:spcPts val="9516"/>
              </a:lnSpc>
            </a:pPr>
            <a:r>
              <a:rPr lang="en-US" sz="7800" dirty="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ON</a:t>
            </a:r>
            <a:r>
              <a:rPr lang="en-US" sz="4400" dirty="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800" dirty="0" err="1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LETTER가</a:t>
            </a:r>
            <a:endParaRPr lang="en-US" sz="7800" dirty="0">
              <a:solidFill>
                <a:srgbClr val="2F2A24"/>
              </a:solidFill>
              <a:latin typeface="Jua"/>
              <a:ea typeface="Jua"/>
              <a:cs typeface="Jua"/>
              <a:sym typeface="Jua"/>
            </a:endParaRPr>
          </a:p>
          <a:p>
            <a:pPr algn="l">
              <a:lnSpc>
                <a:spcPts val="9516"/>
              </a:lnSpc>
            </a:pPr>
            <a:r>
              <a:rPr lang="en-US" sz="7800" dirty="0" err="1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마음의</a:t>
            </a:r>
            <a:r>
              <a:rPr lang="en-US" sz="4000" dirty="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800" dirty="0" err="1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문을</a:t>
            </a:r>
            <a:r>
              <a:rPr lang="en-US" sz="4400" dirty="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800" dirty="0" err="1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열어줍니다</a:t>
            </a:r>
            <a:endParaRPr lang="en-US" sz="7800" dirty="0">
              <a:solidFill>
                <a:srgbClr val="2F2A24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28750" y="5562600"/>
            <a:ext cx="5032375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On Letter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6705600"/>
            <a:ext cx="85725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1">
                <a:solidFill>
                  <a:srgbClr val="5A3D0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3분 동안 가볍게 내 마음을 돌아보면,</a:t>
            </a:r>
          </a:p>
          <a:p>
            <a:pPr algn="l">
              <a:lnSpc>
                <a:spcPts val="3360"/>
              </a:lnSpc>
            </a:pPr>
            <a:r>
              <a:rPr lang="en-US" sz="2100" b="1">
                <a:solidFill>
                  <a:srgbClr val="5A3D0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지금의 나와 닮은 실제 온기 편지 한 통이 먼저 도착합니다</a:t>
            </a:r>
          </a:p>
        </p:txBody>
      </p:sp>
      <p:sp>
        <p:nvSpPr>
          <p:cNvPr id="10" name="AutoShape 10"/>
          <p:cNvSpPr/>
          <p:nvPr/>
        </p:nvSpPr>
        <p:spPr>
          <a:xfrm rot="12239">
            <a:off x="1623984" y="8777288"/>
            <a:ext cx="8029623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428750" y="8572500"/>
            <a:ext cx="419100" cy="419100"/>
            <a:chOff x="0" y="0"/>
            <a:chExt cx="5588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DECB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28750" y="8572500"/>
            <a:ext cx="419100" cy="419100"/>
            <a:chOff x="0" y="0"/>
            <a:chExt cx="558800" cy="55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28750" y="9144000"/>
            <a:ext cx="1905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SNS · QR에서 발견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381375" y="8572500"/>
            <a:ext cx="419100" cy="419100"/>
            <a:chOff x="0" y="0"/>
            <a:chExt cx="558800" cy="558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DECB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381375" y="8572500"/>
            <a:ext cx="419100" cy="419100"/>
            <a:chOff x="0" y="0"/>
            <a:chExt cx="558800" cy="558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381375" y="9144000"/>
            <a:ext cx="1905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3분 마음 질문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276850" y="8515350"/>
            <a:ext cx="533400" cy="533400"/>
            <a:chOff x="0" y="0"/>
            <a:chExt cx="711200" cy="711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cubicBezTo>
                    <a:pt x="551942" y="0"/>
                    <a:pt x="711200" y="159258"/>
                    <a:pt x="711200" y="355600"/>
                  </a:cubicBezTo>
                  <a:cubicBezTo>
                    <a:pt x="711200" y="551942"/>
                    <a:pt x="551942" y="711200"/>
                    <a:pt x="355600" y="711200"/>
                  </a:cubicBezTo>
                  <a:cubicBezTo>
                    <a:pt x="159258" y="711200"/>
                    <a:pt x="0" y="551942"/>
                    <a:pt x="0" y="35560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0" y="8572500"/>
            <a:ext cx="419100" cy="419100"/>
            <a:chOff x="0" y="0"/>
            <a:chExt cx="558800" cy="558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0" y="8572500"/>
            <a:ext cx="419100" cy="419100"/>
            <a:chOff x="0" y="0"/>
            <a:chExt cx="558800" cy="558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334000" y="9144000"/>
            <a:ext cx="190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위로 편지 도착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286625" y="8572500"/>
            <a:ext cx="419100" cy="419100"/>
            <a:chOff x="0" y="0"/>
            <a:chExt cx="558800" cy="558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DECB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86625" y="8572500"/>
            <a:ext cx="419100" cy="419100"/>
            <a:chOff x="0" y="0"/>
            <a:chExt cx="558800" cy="558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286625" y="9144000"/>
            <a:ext cx="1905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오목이와 일상 돌봄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239250" y="8572500"/>
            <a:ext cx="419100" cy="419100"/>
            <a:chOff x="0" y="0"/>
            <a:chExt cx="558800" cy="558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2F2A2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239250" y="8572500"/>
            <a:ext cx="419100" cy="419100"/>
            <a:chOff x="0" y="0"/>
            <a:chExt cx="558800" cy="558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CE8A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239250" y="9144000"/>
            <a:ext cx="1905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준비되면 온기로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2382500" y="666750"/>
            <a:ext cx="4432249" cy="9048750"/>
            <a:chOff x="0" y="0"/>
            <a:chExt cx="5909666" cy="12065000"/>
          </a:xfrm>
        </p:grpSpPr>
        <p:sp>
          <p:nvSpPr>
            <p:cNvPr id="44" name="Freeform 44" descr="mock_letter.png"/>
            <p:cNvSpPr/>
            <p:nvPr/>
          </p:nvSpPr>
          <p:spPr>
            <a:xfrm>
              <a:off x="0" y="0"/>
              <a:ext cx="5909691" cy="12065000"/>
            </a:xfrm>
            <a:custGeom>
              <a:avLst/>
              <a:gdLst/>
              <a:ahLst/>
              <a:cxnLst/>
              <a:rect l="l" t="t" r="r" b="b"/>
              <a:pathLst>
                <a:path w="5909691" h="12065000">
                  <a:moveTo>
                    <a:pt x="0" y="0"/>
                  </a:moveTo>
                  <a:lnTo>
                    <a:pt x="5909691" y="0"/>
                  </a:lnTo>
                  <a:lnTo>
                    <a:pt x="5909691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230600" y="7067550"/>
            <a:ext cx="1968570" cy="2762250"/>
            <a:chOff x="0" y="0"/>
            <a:chExt cx="2624760" cy="3683000"/>
          </a:xfrm>
        </p:grpSpPr>
        <p:sp>
          <p:nvSpPr>
            <p:cNvPr id="46" name="Freeform 46" descr="mailbox.png"/>
            <p:cNvSpPr/>
            <p:nvPr/>
          </p:nvSpPr>
          <p:spPr>
            <a:xfrm>
              <a:off x="0" y="0"/>
              <a:ext cx="2624709" cy="3683000"/>
            </a:xfrm>
            <a:custGeom>
              <a:avLst/>
              <a:gdLst/>
              <a:ahLst/>
              <a:cxnLst/>
              <a:rect l="l" t="t" r="r" b="b"/>
              <a:pathLst>
                <a:path w="2624709" h="3683000">
                  <a:moveTo>
                    <a:pt x="0" y="0"/>
                  </a:moveTo>
                  <a:lnTo>
                    <a:pt x="2624709" y="0"/>
                  </a:lnTo>
                  <a:lnTo>
                    <a:pt x="2624709" y="3683000"/>
                  </a:lnTo>
                  <a:lnTo>
                    <a:pt x="0" y="368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8971" y="384048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REQUIREMENTS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09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1165860"/>
            <a:ext cx="16915943" cy="1666052"/>
            <a:chOff x="0" y="0"/>
            <a:chExt cx="22554590" cy="22214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54591" cy="2221403"/>
            </a:xfrm>
            <a:custGeom>
              <a:avLst/>
              <a:gdLst/>
              <a:ahLst/>
              <a:cxnLst/>
              <a:rect l="l" t="t" r="r" b="b"/>
              <a:pathLst>
                <a:path w="22554591" h="2221403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441" b="-14723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청년들이 망설이는 이유마다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하나씩 해결책</a:t>
              </a: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을 붙였습니다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3020" y="3086100"/>
            <a:ext cx="9048750" cy="411480"/>
            <a:chOff x="0" y="0"/>
            <a:chExt cx="12065000" cy="548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065000" cy="548640"/>
            </a:xfrm>
            <a:custGeom>
              <a:avLst/>
              <a:gdLst/>
              <a:ahLst/>
              <a:cxnLst/>
              <a:rect l="l" t="t" r="r" b="b"/>
              <a:pathLst>
                <a:path w="12065000" h="548640">
                  <a:moveTo>
                    <a:pt x="0" y="0"/>
                  </a:moveTo>
                  <a:lnTo>
                    <a:pt x="12065000" y="0"/>
                  </a:lnTo>
                  <a:lnTo>
                    <a:pt x="12065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r="9052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0650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800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청년들이 망설이는 이유  →  해결 방향  →  기능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3020" y="3703320"/>
            <a:ext cx="9052560" cy="1097280"/>
            <a:chOff x="0" y="0"/>
            <a:chExt cx="1207008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070080" cy="1463040"/>
            </a:xfrm>
            <a:custGeom>
              <a:avLst/>
              <a:gdLst/>
              <a:ahLst/>
              <a:cxnLst/>
              <a:rect l="l" t="t" r="r" b="b"/>
              <a:pathLst>
                <a:path w="12070080" h="14630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5920" y="3703320"/>
            <a:ext cx="2468880" cy="1097280"/>
            <a:chOff x="0" y="0"/>
            <a:chExt cx="329184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91840" cy="1463040"/>
            </a:xfrm>
            <a:custGeom>
              <a:avLst/>
              <a:gdLst/>
              <a:ahLst/>
              <a:cxnLst/>
              <a:rect l="l" t="t" r="r" b="b"/>
              <a:pathLst>
                <a:path w="3291840" h="14630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r="-7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10"/>
                </a:lnSpc>
                <a:spcBef>
                  <a:spcPct val="0"/>
                </a:spcBef>
              </a:pPr>
              <a:r>
                <a:rPr lang="en-US" sz="21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글로 쓰기 부담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114800" y="3703320"/>
            <a:ext cx="3566160" cy="1097280"/>
            <a:chOff x="0" y="0"/>
            <a:chExt cx="4754880" cy="1463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54880" cy="1463040"/>
            </a:xfrm>
            <a:custGeom>
              <a:avLst/>
              <a:gdLst/>
              <a:ahLst/>
              <a:cxnLst/>
              <a:rect l="l" t="t" r="r" b="b"/>
              <a:pathLst>
                <a:path w="4754880" h="146304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26" b="-133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340"/>
                </a:lnSpc>
                <a:spcBef>
                  <a:spcPct val="0"/>
                </a:spcBef>
              </a:pPr>
              <a:r>
                <a:rPr lang="en-US" sz="1950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쓰지 않고 골라서 시작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8120" y="3977640"/>
            <a:ext cx="2263140" cy="548640"/>
            <a:chOff x="0" y="0"/>
            <a:chExt cx="301752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120" y="3977640"/>
            <a:ext cx="2263140" cy="548640"/>
            <a:chOff x="0" y="0"/>
            <a:chExt cx="301752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375" b="-303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마음 질문 6문항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03020" y="5006340"/>
            <a:ext cx="9052560" cy="1097280"/>
            <a:chOff x="0" y="0"/>
            <a:chExt cx="12070080" cy="14630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070080" cy="1463040"/>
            </a:xfrm>
            <a:custGeom>
              <a:avLst/>
              <a:gdLst/>
              <a:ahLst/>
              <a:cxnLst/>
              <a:rect l="l" t="t" r="r" b="b"/>
              <a:pathLst>
                <a:path w="12070080" h="14630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" y="5006340"/>
            <a:ext cx="2468880" cy="1097280"/>
            <a:chOff x="0" y="0"/>
            <a:chExt cx="3291840" cy="14630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91840" cy="1463040"/>
            </a:xfrm>
            <a:custGeom>
              <a:avLst/>
              <a:gdLst/>
              <a:ahLst/>
              <a:cxnLst/>
              <a:rect l="l" t="t" r="r" b="b"/>
              <a:pathLst>
                <a:path w="3291840" h="14630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r="-7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10"/>
                </a:lnSpc>
                <a:spcBef>
                  <a:spcPct val="0"/>
                </a:spcBef>
              </a:pPr>
              <a:r>
                <a:rPr lang="en-US" sz="21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답장까지 3~4주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14800" y="5006340"/>
            <a:ext cx="3566160" cy="1097280"/>
            <a:chOff x="0" y="0"/>
            <a:chExt cx="4754880" cy="14630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754880" cy="1463040"/>
            </a:xfrm>
            <a:custGeom>
              <a:avLst/>
              <a:gdLst/>
              <a:ahLst/>
              <a:cxnLst/>
              <a:rect l="l" t="t" r="r" b="b"/>
              <a:pathLst>
                <a:path w="4754880" h="146304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26" b="-133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340"/>
                </a:lnSpc>
                <a:spcBef>
                  <a:spcPct val="0"/>
                </a:spcBef>
              </a:pPr>
              <a:r>
                <a:rPr lang="en-US" sz="1950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기다리지 않고 바로 공감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18120" y="5280660"/>
            <a:ext cx="2263140" cy="548640"/>
            <a:chOff x="0" y="0"/>
            <a:chExt cx="301752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18120" y="5280660"/>
            <a:ext cx="2263140" cy="548640"/>
            <a:chOff x="0" y="0"/>
            <a:chExt cx="301752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375" b="-303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닮은 편지 바로 도착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03020" y="6309360"/>
            <a:ext cx="9052560" cy="1097280"/>
            <a:chOff x="0" y="0"/>
            <a:chExt cx="12070080" cy="14630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070080" cy="1463040"/>
            </a:xfrm>
            <a:custGeom>
              <a:avLst/>
              <a:gdLst/>
              <a:ahLst/>
              <a:cxnLst/>
              <a:rect l="l" t="t" r="r" b="b"/>
              <a:pathLst>
                <a:path w="12070080" h="14630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45920" y="6309360"/>
            <a:ext cx="2468880" cy="1097280"/>
            <a:chOff x="0" y="0"/>
            <a:chExt cx="3291840" cy="14630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91840" cy="1463040"/>
            </a:xfrm>
            <a:custGeom>
              <a:avLst/>
              <a:gdLst/>
              <a:ahLst/>
              <a:cxnLst/>
              <a:rect l="l" t="t" r="r" b="b"/>
              <a:pathLst>
                <a:path w="3291840" h="14630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r="-7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10"/>
                </a:lnSpc>
                <a:spcBef>
                  <a:spcPct val="0"/>
                </a:spcBef>
              </a:pPr>
              <a:r>
                <a:rPr lang="en-US" sz="21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다시 올 이유 없음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14800" y="6309360"/>
            <a:ext cx="3566160" cy="1097280"/>
            <a:chOff x="0" y="0"/>
            <a:chExt cx="4754880" cy="14630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754880" cy="1463040"/>
            </a:xfrm>
            <a:custGeom>
              <a:avLst/>
              <a:gdLst/>
              <a:ahLst/>
              <a:cxnLst/>
              <a:rect l="l" t="t" r="r" b="b"/>
              <a:pathLst>
                <a:path w="4754880" h="146304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26" b="-133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340"/>
                </a:lnSpc>
                <a:spcBef>
                  <a:spcPct val="0"/>
                </a:spcBef>
              </a:pPr>
              <a:r>
                <a:rPr lang="en-US" sz="1950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매일 가볍게 돌아올 장치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8120" y="6583680"/>
            <a:ext cx="2263140" cy="548640"/>
            <a:chOff x="0" y="0"/>
            <a:chExt cx="3017520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818120" y="6583680"/>
            <a:ext cx="2263140" cy="548640"/>
            <a:chOff x="0" y="0"/>
            <a:chExt cx="301752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375" b="-303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1일 1미션 · 성장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03020" y="7612380"/>
            <a:ext cx="9052560" cy="1097280"/>
            <a:chOff x="0" y="0"/>
            <a:chExt cx="12070080" cy="14630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070080" cy="1463040"/>
            </a:xfrm>
            <a:custGeom>
              <a:avLst/>
              <a:gdLst/>
              <a:ahLst/>
              <a:cxnLst/>
              <a:rect l="l" t="t" r="r" b="b"/>
              <a:pathLst>
                <a:path w="12070080" h="14630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45920" y="7612380"/>
            <a:ext cx="2468880" cy="1097280"/>
            <a:chOff x="0" y="0"/>
            <a:chExt cx="3291840" cy="14630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291840" cy="1463040"/>
            </a:xfrm>
            <a:custGeom>
              <a:avLst/>
              <a:gdLst/>
              <a:ahLst/>
              <a:cxnLst/>
              <a:rect l="l" t="t" r="r" b="b"/>
              <a:pathLst>
                <a:path w="3291840" h="14630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r="-7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10"/>
                </a:lnSpc>
                <a:spcBef>
                  <a:spcPct val="0"/>
                </a:spcBef>
              </a:pPr>
              <a:r>
                <a:rPr lang="en-US" sz="21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위기 순간의 고립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114800" y="7612380"/>
            <a:ext cx="3566160" cy="1097280"/>
            <a:chOff x="0" y="0"/>
            <a:chExt cx="4754880" cy="14630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754880" cy="1463040"/>
            </a:xfrm>
            <a:custGeom>
              <a:avLst/>
              <a:gdLst/>
              <a:ahLst/>
              <a:cxnLst/>
              <a:rect l="l" t="t" r="r" b="b"/>
              <a:pathLst>
                <a:path w="4754880" h="146304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26" b="-133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340"/>
                </a:lnSpc>
                <a:spcBef>
                  <a:spcPct val="0"/>
                </a:spcBef>
              </a:pPr>
              <a:r>
                <a:rPr lang="en-US" sz="1950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위험 신호는 즉시 전문기관으로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818120" y="7886700"/>
            <a:ext cx="2263140" cy="548640"/>
            <a:chOff x="0" y="0"/>
            <a:chExt cx="3017520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8120" y="7886700"/>
            <a:ext cx="2263140" cy="548640"/>
            <a:chOff x="0" y="0"/>
            <a:chExt cx="3017520" cy="7315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017520" cy="731520"/>
            </a:xfrm>
            <a:custGeom>
              <a:avLst/>
              <a:gdLst/>
              <a:ahLst/>
              <a:cxnLst/>
              <a:rect l="l" t="t" r="r" b="b"/>
              <a:pathLst>
                <a:path w="3017520" h="731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375" b="-303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위기 감지 → 109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561320" y="5349240"/>
            <a:ext cx="685800" cy="1097280"/>
            <a:chOff x="0" y="0"/>
            <a:chExt cx="914400" cy="14630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14400" cy="1463040"/>
            </a:xfrm>
            <a:custGeom>
              <a:avLst/>
              <a:gdLst/>
              <a:ahLst/>
              <a:cxnLst/>
              <a:rect l="l" t="t" r="r" b="b"/>
              <a:pathLst>
                <a:path w="914400" h="1463040">
                  <a:moveTo>
                    <a:pt x="0" y="0"/>
                  </a:moveTo>
                  <a:lnTo>
                    <a:pt x="914400" y="0"/>
                  </a:lnTo>
                  <a:lnTo>
                    <a:pt x="914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285" r="-15528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91440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452860" y="3086100"/>
            <a:ext cx="5623560" cy="5897880"/>
            <a:chOff x="0" y="0"/>
            <a:chExt cx="7498080" cy="78638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498080" cy="7863840"/>
            </a:xfrm>
            <a:custGeom>
              <a:avLst/>
              <a:gdLst/>
              <a:ahLst/>
              <a:cxnLst/>
              <a:rect l="l" t="t" r="r" b="b"/>
              <a:pathLst>
                <a:path w="7498080" h="786384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7059168" y="0"/>
                  </a:lnTo>
                  <a:cubicBezTo>
                    <a:pt x="7301612" y="0"/>
                    <a:pt x="7498080" y="196469"/>
                    <a:pt x="7498080" y="438912"/>
                  </a:cubicBezTo>
                  <a:lnTo>
                    <a:pt x="7498080" y="7424928"/>
                  </a:lnTo>
                  <a:cubicBezTo>
                    <a:pt x="7498080" y="7667372"/>
                    <a:pt x="7301612" y="7863840"/>
                    <a:pt x="7059168" y="7863840"/>
                  </a:cubicBezTo>
                  <a:lnTo>
                    <a:pt x="438912" y="7863840"/>
                  </a:lnTo>
                  <a:cubicBezTo>
                    <a:pt x="196469" y="7863840"/>
                    <a:pt x="0" y="7667371"/>
                    <a:pt x="0" y="7424928"/>
                  </a:cubicBezTo>
                  <a:close/>
                </a:path>
              </a:pathLst>
            </a:custGeom>
            <a:solidFill>
              <a:srgbClr val="F5C83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452860" y="3429000"/>
            <a:ext cx="5623560" cy="685800"/>
            <a:chOff x="0" y="0"/>
            <a:chExt cx="7498080" cy="9144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498080" cy="914400"/>
            </a:xfrm>
            <a:custGeom>
              <a:avLst/>
              <a:gdLst/>
              <a:ahLst/>
              <a:cxnLst/>
              <a:rect l="l" t="t" r="r" b="b"/>
              <a:pathLst>
                <a:path w="7498080" h="914400">
                  <a:moveTo>
                    <a:pt x="0" y="0"/>
                  </a:moveTo>
                  <a:lnTo>
                    <a:pt x="7498080" y="0"/>
                  </a:lnTo>
                  <a:lnTo>
                    <a:pt x="7498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9777" b="-10977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7498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준비되면 사람의 위로로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452860" y="4114800"/>
            <a:ext cx="5623560" cy="480060"/>
            <a:chOff x="0" y="0"/>
            <a:chExt cx="7498080" cy="6400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498080" cy="640080"/>
            </a:xfrm>
            <a:custGeom>
              <a:avLst/>
              <a:gdLst/>
              <a:ahLst/>
              <a:cxnLst/>
              <a:rect l="l" t="t" r="r" b="b"/>
              <a:pathLst>
                <a:path w="7498080" h="640080">
                  <a:moveTo>
                    <a:pt x="0" y="0"/>
                  </a:moveTo>
                  <a:lnTo>
                    <a:pt x="7498080" y="0"/>
                  </a:lnTo>
                  <a:lnTo>
                    <a:pt x="7498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74980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250"/>
                </a:lnSpc>
                <a:spcBef>
                  <a:spcPct val="0"/>
                </a:spcBef>
              </a:pPr>
              <a:r>
                <a:rPr lang="en-US" sz="1875" u="none" strike="noStrike">
                  <a:solidFill>
                    <a:srgbClr val="5A4418"/>
                  </a:solidFill>
                  <a:latin typeface="Noto Sans"/>
                  <a:ea typeface="Noto Sans"/>
                  <a:cs typeface="Noto Sans"/>
                  <a:sym typeface="Noto Sans"/>
                </a:rPr>
                <a:t>오목이와 대화하다 마음이 열리면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3336946" y="4800600"/>
            <a:ext cx="1855388" cy="2606040"/>
            <a:chOff x="0" y="0"/>
            <a:chExt cx="2213445" cy="3108960"/>
          </a:xfrm>
        </p:grpSpPr>
        <p:sp>
          <p:nvSpPr>
            <p:cNvPr id="79" name="Freeform 79" descr="/home/claude/thumb/ch/sB12.png"/>
            <p:cNvSpPr/>
            <p:nvPr/>
          </p:nvSpPr>
          <p:spPr>
            <a:xfrm>
              <a:off x="0" y="0"/>
              <a:ext cx="2213483" cy="3108960"/>
            </a:xfrm>
            <a:custGeom>
              <a:avLst/>
              <a:gdLst/>
              <a:ahLst/>
              <a:cxnLst/>
              <a:rect l="l" t="t" r="r" b="b"/>
              <a:pathLst>
                <a:path w="2213483" h="3108960">
                  <a:moveTo>
                    <a:pt x="0" y="0"/>
                  </a:moveTo>
                  <a:lnTo>
                    <a:pt x="2213483" y="0"/>
                  </a:lnTo>
                  <a:lnTo>
                    <a:pt x="2213483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138660" y="7406640"/>
            <a:ext cx="4251960" cy="685800"/>
            <a:chOff x="0" y="0"/>
            <a:chExt cx="5669280" cy="9144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669280" cy="914400"/>
            </a:xfrm>
            <a:custGeom>
              <a:avLst/>
              <a:gdLst/>
              <a:ahLst/>
              <a:cxnLst/>
              <a:rect l="l" t="t" r="r" b="b"/>
              <a:pathLst>
                <a:path w="566928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5212080" y="0"/>
                  </a:lnTo>
                  <a:cubicBezTo>
                    <a:pt x="5464556" y="0"/>
                    <a:pt x="5669280" y="204724"/>
                    <a:pt x="5669280" y="457200"/>
                  </a:cubicBezTo>
                  <a:cubicBezTo>
                    <a:pt x="5669280" y="709676"/>
                    <a:pt x="5464556" y="914400"/>
                    <a:pt x="521208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F2A2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138660" y="7406640"/>
            <a:ext cx="4251960" cy="685800"/>
            <a:chOff x="0" y="0"/>
            <a:chExt cx="5669280" cy="9144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669280" cy="914400"/>
            </a:xfrm>
            <a:custGeom>
              <a:avLst/>
              <a:gdLst/>
              <a:ahLst/>
              <a:cxnLst/>
              <a:rect l="l" t="t" r="r" b="b"/>
              <a:pathLst>
                <a:path w="5669280" h="91440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0807" b="-708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56692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250"/>
                </a:lnSpc>
                <a:spcBef>
                  <a:spcPct val="0"/>
                </a:spcBef>
              </a:pPr>
              <a:r>
                <a:rPr lang="en-US" sz="1875" b="1" u="none" strike="noStrike">
                  <a:solidFill>
                    <a:srgbClr val="F5C8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온기우편함에 고민 보내기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22960" y="9683496"/>
            <a:ext cx="14401800" cy="356616"/>
            <a:chOff x="0" y="0"/>
            <a:chExt cx="19202400" cy="475488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9202400" cy="475488"/>
            </a:xfrm>
            <a:custGeom>
              <a:avLst/>
              <a:gdLst/>
              <a:ahLst/>
              <a:cxnLst/>
              <a:rect l="l" t="t" r="r" b="b"/>
              <a:pathLst>
                <a:path w="19202400" h="475488">
                  <a:moveTo>
                    <a:pt x="0" y="0"/>
                  </a:moveTo>
                  <a:lnTo>
                    <a:pt x="19202400" y="0"/>
                  </a:lnTo>
                  <a:lnTo>
                    <a:pt x="19202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6895" b="-73689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19202400" cy="485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620"/>
                </a:lnSpc>
                <a:spcBef>
                  <a:spcPct val="0"/>
                </a:spcBef>
              </a:pPr>
              <a:r>
                <a:rPr lang="en-US" sz="1350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비기능 요구사항: 개인정보 최소 수집(기기에 저장, 개인정보를 묻지 않음) · 모바일 우선 · 오프라인 대응(PWA) · 접근성(터치 영역 44px, 동작 줄이기)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890" y="0"/>
            <a:ext cx="18301840" cy="10295039"/>
            <a:chOff x="0" y="0"/>
            <a:chExt cx="24402453" cy="13726719"/>
          </a:xfrm>
        </p:grpSpPr>
        <p:sp>
          <p:nvSpPr>
            <p:cNvPr id="3" name="Freeform 3" descr="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3608" y="464468"/>
            <a:ext cx="4118019" cy="46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 b="1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259366" y="1784471"/>
            <a:ext cx="1784471" cy="494162"/>
            <a:chOff x="0" y="0"/>
            <a:chExt cx="2379294" cy="658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5가지 탭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8137" y="2255101"/>
            <a:ext cx="16101451" cy="98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7"/>
              </a:lnSpc>
            </a:pPr>
            <a:r>
              <a:rPr lang="en-US" sz="4803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메인 서비스: 5개 탭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12207" y="4211917"/>
            <a:ext cx="2185787" cy="4312377"/>
            <a:chOff x="0" y="0"/>
            <a:chExt cx="2726411" cy="5378983"/>
          </a:xfrm>
        </p:grpSpPr>
        <p:sp>
          <p:nvSpPr>
            <p:cNvPr id="10" name="Freeform 10" descr="phone-mission.png"/>
            <p:cNvSpPr/>
            <p:nvPr/>
          </p:nvSpPr>
          <p:spPr>
            <a:xfrm>
              <a:off x="0" y="0"/>
              <a:ext cx="2726436" cy="5378958"/>
            </a:xfrm>
            <a:custGeom>
              <a:avLst/>
              <a:gdLst/>
              <a:ahLst/>
              <a:cxnLst/>
              <a:rect l="l" t="t" r="r" b="b"/>
              <a:pathLst>
                <a:path w="2726436" h="5378958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48396" y="8583054"/>
            <a:ext cx="2513409" cy="658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미션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1일 1미션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617169" y="4183990"/>
            <a:ext cx="2213738" cy="4367522"/>
            <a:chOff x="0" y="0"/>
            <a:chExt cx="2726411" cy="5378983"/>
          </a:xfrm>
        </p:grpSpPr>
        <p:sp>
          <p:nvSpPr>
            <p:cNvPr id="13" name="Freeform 13" descr="phone-tests.png"/>
            <p:cNvSpPr/>
            <p:nvPr/>
          </p:nvSpPr>
          <p:spPr>
            <a:xfrm>
              <a:off x="0" y="0"/>
              <a:ext cx="2726436" cy="5378958"/>
            </a:xfrm>
            <a:custGeom>
              <a:avLst/>
              <a:gdLst/>
              <a:ahLst/>
              <a:cxnLst/>
              <a:rect l="l" t="t" r="r" b="b"/>
              <a:pathLst>
                <a:path w="2726436" h="5378958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" b="-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393329" y="8615137"/>
            <a:ext cx="2654968" cy="658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 dirty="0" err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심리테스트</a:t>
            </a:r>
            <a:endParaRPr lang="en-US" sz="2251" b="1" dirty="0">
              <a:solidFill>
                <a:srgbClr val="2F2B2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594"/>
              </a:lnSpc>
            </a:pP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공개</a:t>
            </a:r>
            <a:r>
              <a:rPr lang="en-US" sz="1801" dirty="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척도</a:t>
            </a:r>
            <a:r>
              <a:rPr lang="en-US" sz="1801" dirty="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 3종 · </a:t>
            </a: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결과</a:t>
            </a:r>
            <a:r>
              <a:rPr lang="en-US" sz="1801" dirty="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공유</a:t>
            </a:r>
            <a:endParaRPr lang="en-US" sz="1801" dirty="0">
              <a:solidFill>
                <a:srgbClr val="6B655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7913942" y="3829755"/>
            <a:ext cx="2473966" cy="4694539"/>
            <a:chOff x="0" y="0"/>
            <a:chExt cx="3298622" cy="62593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98571" cy="6259322"/>
            </a:xfrm>
            <a:custGeom>
              <a:avLst/>
              <a:gdLst/>
              <a:ahLst/>
              <a:cxnLst/>
              <a:rect l="l" t="t" r="r" b="b"/>
              <a:pathLst>
                <a:path w="3298571" h="6259322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lnTo>
                    <a:pt x="2836799" y="0"/>
                  </a:lnTo>
                  <a:cubicBezTo>
                    <a:pt x="3091815" y="0"/>
                    <a:pt x="3298571" y="206756"/>
                    <a:pt x="3298571" y="461772"/>
                  </a:cubicBezTo>
                  <a:lnTo>
                    <a:pt x="3298571" y="5797550"/>
                  </a:lnTo>
                  <a:cubicBezTo>
                    <a:pt x="3298571" y="6052566"/>
                    <a:pt x="3091815" y="6259322"/>
                    <a:pt x="2836799" y="6259322"/>
                  </a:cubicBezTo>
                  <a:lnTo>
                    <a:pt x="461772" y="6259322"/>
                  </a:lnTo>
                  <a:cubicBezTo>
                    <a:pt x="206756" y="6259449"/>
                    <a:pt x="0" y="6052566"/>
                    <a:pt x="0" y="5797550"/>
                  </a:cubicBezTo>
                  <a:close/>
                </a:path>
              </a:pathLst>
            </a:custGeom>
            <a:solidFill>
              <a:srgbClr val="FDF0C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50082" y="3496511"/>
            <a:ext cx="2587837" cy="5105592"/>
            <a:chOff x="0" y="0"/>
            <a:chExt cx="3130321" cy="6175870"/>
          </a:xfrm>
        </p:grpSpPr>
        <p:sp>
          <p:nvSpPr>
            <p:cNvPr id="18" name="Freeform 18" descr="phone-home.png"/>
            <p:cNvSpPr/>
            <p:nvPr/>
          </p:nvSpPr>
          <p:spPr>
            <a:xfrm>
              <a:off x="0" y="0"/>
              <a:ext cx="3130296" cy="6175883"/>
            </a:xfrm>
            <a:custGeom>
              <a:avLst/>
              <a:gdLst/>
              <a:ahLst/>
              <a:cxnLst/>
              <a:rect l="l" t="t" r="r" b="b"/>
              <a:pathLst>
                <a:path w="3130296" h="6175883">
                  <a:moveTo>
                    <a:pt x="0" y="0"/>
                  </a:moveTo>
                  <a:lnTo>
                    <a:pt x="3130296" y="0"/>
                  </a:lnTo>
                  <a:lnTo>
                    <a:pt x="3130296" y="6175883"/>
                  </a:lnTo>
                  <a:lnTo>
                    <a:pt x="0" y="6175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" b="-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665258" y="8652341"/>
            <a:ext cx="2988178" cy="658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 dirty="0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홈 (</a:t>
            </a:r>
            <a:r>
              <a:rPr lang="en-US" sz="2251" b="1" dirty="0" err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기본</a:t>
            </a:r>
            <a:r>
              <a:rPr lang="en-US" sz="2251" b="1" dirty="0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 탭)</a:t>
            </a:r>
          </a:p>
          <a:p>
            <a:pPr algn="ctr">
              <a:lnSpc>
                <a:spcPts val="2594"/>
              </a:lnSpc>
            </a:pP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1801" dirty="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질문</a:t>
            </a:r>
            <a:r>
              <a:rPr lang="en-US" sz="1801" dirty="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 · </a:t>
            </a: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오목이와</a:t>
            </a:r>
            <a:r>
              <a:rPr lang="en-US" sz="1801" dirty="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1" dirty="0" err="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대화</a:t>
            </a:r>
            <a:endParaRPr lang="en-US" sz="1801" dirty="0">
              <a:solidFill>
                <a:srgbClr val="6B655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1408795" y="4073700"/>
            <a:ext cx="2297591" cy="4532957"/>
            <a:chOff x="0" y="0"/>
            <a:chExt cx="2726411" cy="5378983"/>
          </a:xfrm>
        </p:grpSpPr>
        <p:sp>
          <p:nvSpPr>
            <p:cNvPr id="21" name="Freeform 21" descr="phone-letters.png"/>
            <p:cNvSpPr/>
            <p:nvPr/>
          </p:nvSpPr>
          <p:spPr>
            <a:xfrm>
              <a:off x="0" y="0"/>
              <a:ext cx="2726436" cy="5378958"/>
            </a:xfrm>
            <a:custGeom>
              <a:avLst/>
              <a:gdLst/>
              <a:ahLst/>
              <a:cxnLst/>
              <a:rect l="l" t="t" r="r" b="b"/>
              <a:pathLst>
                <a:path w="2726436" h="5378958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" b="-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300886" y="8599953"/>
            <a:ext cx="2513409" cy="139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온기레터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실제 고민과 답장 164편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677936" y="4128845"/>
            <a:ext cx="2241689" cy="4422667"/>
            <a:chOff x="0" y="0"/>
            <a:chExt cx="2726411" cy="5378983"/>
          </a:xfrm>
        </p:grpSpPr>
        <p:sp>
          <p:nvSpPr>
            <p:cNvPr id="24" name="Freeform 24" descr="phone-me.png"/>
            <p:cNvSpPr/>
            <p:nvPr/>
          </p:nvSpPr>
          <p:spPr>
            <a:xfrm>
              <a:off x="0" y="0"/>
              <a:ext cx="2726436" cy="5378958"/>
            </a:xfrm>
            <a:custGeom>
              <a:avLst/>
              <a:gdLst/>
              <a:ahLst/>
              <a:cxnLst/>
              <a:rect l="l" t="t" r="r" b="b"/>
              <a:pathLst>
                <a:path w="2726436" h="5378958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4" b="-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542076" y="8599953"/>
            <a:ext cx="2513409" cy="139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나의 온기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성장 앨범 · 마음 기록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0" y="976312"/>
            <a:ext cx="7620000" cy="14288"/>
            <a:chOff x="0" y="0"/>
            <a:chExt cx="10160000" cy="190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160000" cy="19050"/>
            </a:xfrm>
            <a:custGeom>
              <a:avLst/>
              <a:gdLst/>
              <a:ahLst/>
              <a:cxnLst/>
              <a:rect l="l" t="t" r="r" b="b"/>
              <a:pathLst>
                <a:path w="10160000" h="19050">
                  <a:moveTo>
                    <a:pt x="0" y="0"/>
                  </a:moveTo>
                  <a:lnTo>
                    <a:pt x="10160000" y="0"/>
                  </a:lnTo>
                  <a:lnTo>
                    <a:pt x="10160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1600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791640" y="905961"/>
            <a:ext cx="164725" cy="164725"/>
            <a:chOff x="0" y="0"/>
            <a:chExt cx="219634" cy="21963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331577" y="905961"/>
            <a:ext cx="164725" cy="164725"/>
            <a:chOff x="0" y="0"/>
            <a:chExt cx="219634" cy="21963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871609" y="905961"/>
            <a:ext cx="164725" cy="164725"/>
            <a:chOff x="0" y="0"/>
            <a:chExt cx="219634" cy="21963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148644" y="803015"/>
            <a:ext cx="370618" cy="370618"/>
            <a:chOff x="0" y="0"/>
            <a:chExt cx="494157" cy="49415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94157" cy="494157"/>
            </a:xfrm>
            <a:custGeom>
              <a:avLst/>
              <a:gdLst/>
              <a:ahLst/>
              <a:cxnLst/>
              <a:rect l="l" t="t" r="r" b="b"/>
              <a:pathLst>
                <a:path w="494157" h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94157" cy="532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921532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38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6"/>
              </a:lnSpc>
              <a:spcBef>
                <a:spcPct val="0"/>
              </a:spcBef>
            </a:pPr>
            <a:r>
              <a:rPr lang="en-US" sz="1650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전체 서비스 흐름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61468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00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3608" y="464468"/>
            <a:ext cx="4118019" cy="46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 b="1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sp>
        <p:nvSpPr>
          <p:cNvPr id="5" name="AutoShape 5"/>
          <p:cNvSpPr/>
          <p:nvPr/>
        </p:nvSpPr>
        <p:spPr>
          <a:xfrm rot="10740">
            <a:off x="5341487" y="983561"/>
            <a:ext cx="7614742" cy="0"/>
          </a:xfrm>
          <a:prstGeom prst="line">
            <a:avLst/>
          </a:prstGeom>
          <a:ln w="9525" cap="rnd">
            <a:solidFill>
              <a:srgbClr val="E4D9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6921532" y="1219438"/>
            <a:ext cx="1905000" cy="30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7"/>
              </a:lnSpc>
              <a:spcBef>
                <a:spcPct val="0"/>
              </a:spcBef>
            </a:pPr>
            <a:r>
              <a:rPr lang="en-US" sz="1651" u="none" strike="noStrik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91640" y="905961"/>
            <a:ext cx="164725" cy="164725"/>
            <a:chOff x="0" y="0"/>
            <a:chExt cx="219634" cy="2196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31577" y="905961"/>
            <a:ext cx="164725" cy="164725"/>
            <a:chOff x="0" y="0"/>
            <a:chExt cx="219634" cy="2196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461468" y="1219438"/>
            <a:ext cx="1905000" cy="30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7"/>
              </a:lnSpc>
              <a:spcBef>
                <a:spcPct val="0"/>
              </a:spcBef>
            </a:pPr>
            <a:r>
              <a:rPr lang="en-US" sz="1651" u="none" strike="noStrik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48644" y="803015"/>
            <a:ext cx="370618" cy="370618"/>
            <a:chOff x="0" y="0"/>
            <a:chExt cx="494157" cy="4941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4157" cy="494157"/>
            </a:xfrm>
            <a:custGeom>
              <a:avLst/>
              <a:gdLst/>
              <a:ahLst/>
              <a:cxnLst/>
              <a:rect l="l" t="t" r="r" b="b"/>
              <a:pathLst>
                <a:path w="494157" h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381500" y="1219438"/>
            <a:ext cx="1905000" cy="30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7"/>
              </a:lnSpc>
              <a:spcBef>
                <a:spcPct val="0"/>
              </a:spcBef>
            </a:pPr>
            <a:r>
              <a:rPr lang="en-US" sz="1651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전체 서비스 흐름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066713" y="1797757"/>
            <a:ext cx="2154574" cy="494162"/>
            <a:chOff x="0" y="0"/>
            <a:chExt cx="2872765" cy="6588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72816" cy="658870"/>
            </a:xfrm>
            <a:custGeom>
              <a:avLst/>
              <a:gdLst/>
              <a:ahLst/>
              <a:cxnLst/>
              <a:rect l="l" t="t" r="r" b="b"/>
              <a:pathLst>
                <a:path w="2872816" h="658870">
                  <a:moveTo>
                    <a:pt x="0" y="329435"/>
                  </a:moveTo>
                  <a:cubicBezTo>
                    <a:pt x="0" y="147446"/>
                    <a:pt x="178028" y="0"/>
                    <a:pt x="397764" y="0"/>
                  </a:cubicBezTo>
                  <a:lnTo>
                    <a:pt x="2475063" y="0"/>
                  </a:lnTo>
                  <a:cubicBezTo>
                    <a:pt x="2694799" y="0"/>
                    <a:pt x="2872816" y="147446"/>
                    <a:pt x="2872816" y="329435"/>
                  </a:cubicBezTo>
                  <a:cubicBezTo>
                    <a:pt x="2872816" y="511424"/>
                    <a:pt x="2694799" y="658870"/>
                    <a:pt x="2475063" y="658870"/>
                  </a:cubicBezTo>
                  <a:lnTo>
                    <a:pt x="397764" y="658870"/>
                  </a:lnTo>
                  <a:cubicBezTo>
                    <a:pt x="178028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872765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오목이 성장 장치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98137" y="2255101"/>
            <a:ext cx="16101451" cy="98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7"/>
              </a:lnSpc>
            </a:pPr>
            <a:r>
              <a:rPr lang="en-US" sz="4803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성장과 연결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8137" y="3172835"/>
            <a:ext cx="16101451" cy="407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2"/>
              </a:lnSpc>
              <a:spcBef>
                <a:spcPct val="0"/>
              </a:spcBef>
            </a:pPr>
            <a:r>
              <a:rPr lang="en-US" sz="2251" u="none" strike="noStrik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완료한 미션 수에 따라 오목이가 자라고, 대화 중 필요하면 손편지 · 도움 기관으로 안내합니다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87492" y="4220961"/>
            <a:ext cx="8167402" cy="5422059"/>
            <a:chOff x="0" y="0"/>
            <a:chExt cx="10889869" cy="72294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889869" cy="7229349"/>
            </a:xfrm>
            <a:custGeom>
              <a:avLst/>
              <a:gdLst/>
              <a:ahLst/>
              <a:cxnLst/>
              <a:rect l="l" t="t" r="r" b="b"/>
              <a:pathLst>
                <a:path w="10889869" h="7229349">
                  <a:moveTo>
                    <a:pt x="0" y="433705"/>
                  </a:moveTo>
                  <a:cubicBezTo>
                    <a:pt x="0" y="194183"/>
                    <a:pt x="194183" y="0"/>
                    <a:pt x="433705" y="0"/>
                  </a:cubicBezTo>
                  <a:lnTo>
                    <a:pt x="10456164" y="0"/>
                  </a:lnTo>
                  <a:cubicBezTo>
                    <a:pt x="10695686" y="0"/>
                    <a:pt x="10889869" y="194183"/>
                    <a:pt x="10889869" y="433705"/>
                  </a:cubicBezTo>
                  <a:lnTo>
                    <a:pt x="10889869" y="6795643"/>
                  </a:lnTo>
                  <a:cubicBezTo>
                    <a:pt x="10889869" y="7035165"/>
                    <a:pt x="10695686" y="7229349"/>
                    <a:pt x="10456164" y="7229349"/>
                  </a:cubicBezTo>
                  <a:lnTo>
                    <a:pt x="433705" y="7229349"/>
                  </a:lnTo>
                  <a:cubicBezTo>
                    <a:pt x="194183" y="7229348"/>
                    <a:pt x="0" y="7035165"/>
                    <a:pt x="0" y="67956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04039" y="4394511"/>
            <a:ext cx="4118019" cy="61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551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오목이 성장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65225" y="4486399"/>
            <a:ext cx="2745343" cy="46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4"/>
              </a:lnSpc>
            </a:pPr>
            <a:r>
              <a:rPr lang="en-US" sz="1801">
                <a:solidFill>
                  <a:srgbClr val="A39D96"/>
                </a:solidFill>
                <a:latin typeface="Arimo"/>
                <a:ea typeface="Arimo"/>
                <a:cs typeface="Arimo"/>
                <a:sym typeface="Arimo"/>
              </a:rPr>
              <a:t>누적 미션 수 기준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94225" y="5490686"/>
            <a:ext cx="1441304" cy="1441304"/>
            <a:chOff x="0" y="0"/>
            <a:chExt cx="1921739" cy="1921739"/>
          </a:xfrm>
        </p:grpSpPr>
        <p:sp>
          <p:nvSpPr>
            <p:cNvPr id="25" name="Freeform 25" descr="stage-1.png"/>
            <p:cNvSpPr/>
            <p:nvPr/>
          </p:nvSpPr>
          <p:spPr>
            <a:xfrm>
              <a:off x="0" y="0"/>
              <a:ext cx="1921764" cy="1921764"/>
            </a:xfrm>
            <a:custGeom>
              <a:avLst/>
              <a:gdLst/>
              <a:ahLst/>
              <a:cxnLst/>
              <a:rect l="l" t="t" r="r" b="b"/>
              <a:pathLst>
                <a:path w="1921764" h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66774" y="7061692"/>
            <a:ext cx="1496216" cy="48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6774" y="7515796"/>
            <a:ext cx="1496216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시작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553167" y="6067215"/>
            <a:ext cx="219627" cy="301990"/>
            <a:chOff x="0" y="0"/>
            <a:chExt cx="292837" cy="4026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2862" cy="402590"/>
            </a:xfrm>
            <a:custGeom>
              <a:avLst/>
              <a:gdLst/>
              <a:ahLst/>
              <a:cxnLst/>
              <a:rect l="l" t="t" r="r" b="b"/>
              <a:pathLst>
                <a:path w="292862" h="402590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90441" y="5490686"/>
            <a:ext cx="1441304" cy="1441304"/>
            <a:chOff x="0" y="0"/>
            <a:chExt cx="1921739" cy="1921739"/>
          </a:xfrm>
        </p:grpSpPr>
        <p:sp>
          <p:nvSpPr>
            <p:cNvPr id="31" name="Freeform 31" descr="stage-2.png"/>
            <p:cNvSpPr/>
            <p:nvPr/>
          </p:nvSpPr>
          <p:spPr>
            <a:xfrm>
              <a:off x="0" y="0"/>
              <a:ext cx="1921764" cy="1921764"/>
            </a:xfrm>
            <a:custGeom>
              <a:avLst/>
              <a:gdLst/>
              <a:ahLst/>
              <a:cxnLst/>
              <a:rect l="l" t="t" r="r" b="b"/>
              <a:pathLst>
                <a:path w="1921764" h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662980" y="7061692"/>
            <a:ext cx="1496216" cy="48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아기새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62980" y="7515796"/>
            <a:ext cx="1496216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3개 완료 시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049382" y="6067215"/>
            <a:ext cx="219627" cy="301990"/>
            <a:chOff x="0" y="0"/>
            <a:chExt cx="292837" cy="40265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92862" cy="402590"/>
            </a:xfrm>
            <a:custGeom>
              <a:avLst/>
              <a:gdLst/>
              <a:ahLst/>
              <a:cxnLst/>
              <a:rect l="l" t="t" r="r" b="b"/>
              <a:pathLst>
                <a:path w="292862" h="402590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186647" y="5490686"/>
            <a:ext cx="1441304" cy="1441304"/>
            <a:chOff x="0" y="0"/>
            <a:chExt cx="1921739" cy="1921739"/>
          </a:xfrm>
        </p:grpSpPr>
        <p:sp>
          <p:nvSpPr>
            <p:cNvPr id="37" name="Freeform 37" descr="stage-3.png"/>
            <p:cNvSpPr/>
            <p:nvPr/>
          </p:nvSpPr>
          <p:spPr>
            <a:xfrm>
              <a:off x="0" y="0"/>
              <a:ext cx="1921764" cy="1921764"/>
            </a:xfrm>
            <a:custGeom>
              <a:avLst/>
              <a:gdLst/>
              <a:ahLst/>
              <a:cxnLst/>
              <a:rect l="l" t="t" r="r" b="b"/>
              <a:pathLst>
                <a:path w="1921764" h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159196" y="7061692"/>
            <a:ext cx="1496216" cy="48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편지 오목이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545598" y="6067215"/>
            <a:ext cx="219627" cy="301990"/>
            <a:chOff x="0" y="0"/>
            <a:chExt cx="292837" cy="40265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92862" cy="402590"/>
            </a:xfrm>
            <a:custGeom>
              <a:avLst/>
              <a:gdLst/>
              <a:ahLst/>
              <a:cxnLst/>
              <a:rect l="l" t="t" r="r" b="b"/>
              <a:pathLst>
                <a:path w="292862" h="402590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82863" y="5490686"/>
            <a:ext cx="1441304" cy="1441304"/>
            <a:chOff x="0" y="0"/>
            <a:chExt cx="1921739" cy="1921739"/>
          </a:xfrm>
        </p:grpSpPr>
        <p:sp>
          <p:nvSpPr>
            <p:cNvPr id="42" name="Freeform 42" descr="stage-4.png"/>
            <p:cNvSpPr/>
            <p:nvPr/>
          </p:nvSpPr>
          <p:spPr>
            <a:xfrm>
              <a:off x="0" y="0"/>
              <a:ext cx="1921764" cy="1921764"/>
            </a:xfrm>
            <a:custGeom>
              <a:avLst/>
              <a:gdLst/>
              <a:ahLst/>
              <a:cxnLst/>
              <a:rect l="l" t="t" r="r" b="b"/>
              <a:pathLst>
                <a:path w="1921764" h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655412" y="7061692"/>
            <a:ext cx="1496216" cy="48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우체부 오목이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041813" y="6067215"/>
            <a:ext cx="219627" cy="301990"/>
            <a:chOff x="0" y="0"/>
            <a:chExt cx="292837" cy="40265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92862" cy="402590"/>
            </a:xfrm>
            <a:custGeom>
              <a:avLst/>
              <a:gdLst/>
              <a:ahLst/>
              <a:cxnLst/>
              <a:rect l="l" t="t" r="r" b="b"/>
              <a:pathLst>
                <a:path w="292862" h="402590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179078" y="5490686"/>
            <a:ext cx="1441304" cy="1441304"/>
            <a:chOff x="0" y="0"/>
            <a:chExt cx="1921739" cy="1921739"/>
          </a:xfrm>
        </p:grpSpPr>
        <p:sp>
          <p:nvSpPr>
            <p:cNvPr id="47" name="Freeform 47" descr="stage-5.png"/>
            <p:cNvSpPr/>
            <p:nvPr/>
          </p:nvSpPr>
          <p:spPr>
            <a:xfrm>
              <a:off x="0" y="0"/>
              <a:ext cx="1921764" cy="1921764"/>
            </a:xfrm>
            <a:custGeom>
              <a:avLst/>
              <a:gdLst/>
              <a:ahLst/>
              <a:cxnLst/>
              <a:rect l="l" t="t" r="r" b="b"/>
              <a:pathLst>
                <a:path w="1921764" h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151627" y="7061692"/>
            <a:ext cx="1496216" cy="48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온기 오목이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340644" y="3849948"/>
            <a:ext cx="2991479" cy="5901938"/>
            <a:chOff x="0" y="0"/>
            <a:chExt cx="3988638" cy="7869250"/>
          </a:xfrm>
        </p:grpSpPr>
        <p:sp>
          <p:nvSpPr>
            <p:cNvPr id="50" name="Freeform 50" descr="phone-chat-talk.png"/>
            <p:cNvSpPr/>
            <p:nvPr/>
          </p:nvSpPr>
          <p:spPr>
            <a:xfrm>
              <a:off x="0" y="0"/>
              <a:ext cx="3988689" cy="7869301"/>
            </a:xfrm>
            <a:custGeom>
              <a:avLst/>
              <a:gdLst/>
              <a:ahLst/>
              <a:cxnLst/>
              <a:rect l="l" t="t" r="r" b="b"/>
              <a:pathLst>
                <a:path w="3988689" h="7869301">
                  <a:moveTo>
                    <a:pt x="0" y="0"/>
                  </a:moveTo>
                  <a:lnTo>
                    <a:pt x="3988689" y="0"/>
                  </a:lnTo>
                  <a:lnTo>
                    <a:pt x="3988689" y="7869301"/>
                  </a:lnTo>
                  <a:lnTo>
                    <a:pt x="0" y="7869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" r="1" b="-1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559951" y="4049382"/>
            <a:ext cx="4941618" cy="2676716"/>
            <a:chOff x="0" y="0"/>
            <a:chExt cx="6588823" cy="356895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588760" cy="3568954"/>
            </a:xfrm>
            <a:custGeom>
              <a:avLst/>
              <a:gdLst/>
              <a:ahLst/>
              <a:cxnLst/>
              <a:rect l="l" t="t" r="r" b="b"/>
              <a:pathLst>
                <a:path w="6588760" h="3568954">
                  <a:moveTo>
                    <a:pt x="0" y="428244"/>
                  </a:moveTo>
                  <a:cubicBezTo>
                    <a:pt x="0" y="191770"/>
                    <a:pt x="191770" y="0"/>
                    <a:pt x="428244" y="0"/>
                  </a:cubicBezTo>
                  <a:lnTo>
                    <a:pt x="6160516" y="0"/>
                  </a:lnTo>
                  <a:cubicBezTo>
                    <a:pt x="6396990" y="0"/>
                    <a:pt x="6588760" y="191770"/>
                    <a:pt x="6588760" y="428244"/>
                  </a:cubicBezTo>
                  <a:lnTo>
                    <a:pt x="6588760" y="3140710"/>
                  </a:lnTo>
                  <a:cubicBezTo>
                    <a:pt x="6588760" y="3377184"/>
                    <a:pt x="6396990" y="3568954"/>
                    <a:pt x="6160516" y="3568954"/>
                  </a:cubicBezTo>
                  <a:lnTo>
                    <a:pt x="428244" y="3568954"/>
                  </a:lnTo>
                  <a:cubicBezTo>
                    <a:pt x="191770" y="3568954"/>
                    <a:pt x="0" y="3377184"/>
                    <a:pt x="0" y="314071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944304" y="4461186"/>
            <a:ext cx="631431" cy="631431"/>
            <a:chOff x="0" y="0"/>
            <a:chExt cx="841908" cy="8419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FDF0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841908" cy="860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85601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3863990" y="4394511"/>
            <a:ext cx="3294412" cy="44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551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손편지로 연결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863990" y="4969907"/>
            <a:ext cx="3294412" cy="75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온기우편함 서비스로 연결</a:t>
            </a:r>
          </a:p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고민에 대한 실제 손편지 받기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2559951" y="7000627"/>
            <a:ext cx="4941618" cy="2470814"/>
            <a:chOff x="0" y="0"/>
            <a:chExt cx="6588823" cy="329441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588887" cy="3294380"/>
            </a:xfrm>
            <a:custGeom>
              <a:avLst/>
              <a:gdLst/>
              <a:ahLst/>
              <a:cxnLst/>
              <a:rect l="l" t="t" r="r" b="b"/>
              <a:pathLst>
                <a:path w="6588887" h="3294380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lnTo>
                    <a:pt x="6193536" y="0"/>
                  </a:lnTo>
                  <a:cubicBezTo>
                    <a:pt x="6411849" y="0"/>
                    <a:pt x="6588887" y="177038"/>
                    <a:pt x="6588887" y="395351"/>
                  </a:cubicBezTo>
                  <a:lnTo>
                    <a:pt x="6588887" y="2899029"/>
                  </a:lnTo>
                  <a:cubicBezTo>
                    <a:pt x="6588887" y="3117342"/>
                    <a:pt x="6411849" y="3294380"/>
                    <a:pt x="6193536" y="3294380"/>
                  </a:cubicBezTo>
                  <a:lnTo>
                    <a:pt x="395351" y="3294380"/>
                  </a:lnTo>
                  <a:cubicBezTo>
                    <a:pt x="177038" y="3294380"/>
                    <a:pt x="0" y="3117469"/>
                    <a:pt x="0" y="289902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944304" y="7412431"/>
            <a:ext cx="631431" cy="631431"/>
            <a:chOff x="0" y="0"/>
            <a:chExt cx="841908" cy="84190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FDF0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841908" cy="860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85601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3863990" y="7345756"/>
            <a:ext cx="3294412" cy="56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551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위기 표현이 보이면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863990" y="7921161"/>
            <a:ext cx="3294412" cy="112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대화 답장 대신</a:t>
            </a:r>
          </a:p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24시간 도움 기관 안내</a:t>
            </a:r>
          </a:p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109 · 1577-0199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159196" y="7515796"/>
            <a:ext cx="1496216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7개 완료 시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55412" y="7515796"/>
            <a:ext cx="1496216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15개 완료 시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151627" y="7515796"/>
            <a:ext cx="1496216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30개 완료 시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871609" y="905961"/>
            <a:ext cx="164725" cy="164725"/>
            <a:chOff x="0" y="0"/>
            <a:chExt cx="219634" cy="21963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200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3608" y="464468"/>
            <a:ext cx="4118019" cy="32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4"/>
              </a:lnSpc>
              <a:spcBef>
                <a:spcPct val="0"/>
              </a:spcBef>
            </a:pPr>
            <a:r>
              <a:rPr lang="en-US" sz="1801" b="1" u="none" strike="noStrik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sp>
        <p:nvSpPr>
          <p:cNvPr id="5" name="AutoShape 5"/>
          <p:cNvSpPr/>
          <p:nvPr/>
        </p:nvSpPr>
        <p:spPr>
          <a:xfrm rot="10740">
            <a:off x="5341487" y="983561"/>
            <a:ext cx="7614742" cy="0"/>
          </a:xfrm>
          <a:prstGeom prst="line">
            <a:avLst/>
          </a:prstGeom>
          <a:ln w="9525" cap="rnd">
            <a:solidFill>
              <a:srgbClr val="E4D9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7688675" y="803015"/>
            <a:ext cx="370618" cy="370618"/>
            <a:chOff x="0" y="0"/>
            <a:chExt cx="494157" cy="4941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4157" cy="494157"/>
            </a:xfrm>
            <a:custGeom>
              <a:avLst/>
              <a:gdLst/>
              <a:ahLst/>
              <a:cxnLst/>
              <a:rect l="l" t="t" r="r" b="b"/>
              <a:pathLst>
                <a:path w="494157" h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921532" y="1219438"/>
            <a:ext cx="1905000" cy="30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7"/>
              </a:lnSpc>
              <a:spcBef>
                <a:spcPct val="0"/>
              </a:spcBef>
            </a:pPr>
            <a:r>
              <a:rPr lang="en-US" sz="1651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사이트맵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251609" y="905961"/>
            <a:ext cx="164725" cy="164725"/>
            <a:chOff x="0" y="0"/>
            <a:chExt cx="219634" cy="2196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381500" y="1219438"/>
            <a:ext cx="1905000" cy="30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7"/>
              </a:lnSpc>
              <a:spcBef>
                <a:spcPct val="0"/>
              </a:spcBef>
            </a:pPr>
            <a:r>
              <a:rPr lang="en-US" sz="1651" u="none" strike="noStrik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전체 서비스 흐름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331577" y="905961"/>
            <a:ext cx="164725" cy="164725"/>
            <a:chOff x="0" y="0"/>
            <a:chExt cx="219634" cy="2196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461468" y="1219438"/>
            <a:ext cx="1905000" cy="30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7"/>
              </a:lnSpc>
              <a:spcBef>
                <a:spcPct val="0"/>
              </a:spcBef>
            </a:pPr>
            <a:r>
              <a:rPr lang="en-US" sz="1651" u="none" strike="noStrik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259366" y="1784471"/>
            <a:ext cx="1784471" cy="494162"/>
            <a:chOff x="0" y="0"/>
            <a:chExt cx="2379294" cy="6588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 u="none" strike="noStrik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사이트맵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98137" y="2255101"/>
            <a:ext cx="16101451" cy="86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7"/>
              </a:lnSpc>
              <a:spcBef>
                <a:spcPct val="0"/>
              </a:spcBef>
            </a:pPr>
            <a:r>
              <a:rPr lang="en-US" sz="4803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사이트 구조 한눈에 보기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12</a:t>
              </a:r>
            </a:p>
          </p:txBody>
        </p:sp>
      </p:grpSp>
      <p:sp>
        <p:nvSpPr>
          <p:cNvPr id="25" name="Freeform 25" descr="사이트맵: 처음 방문(카카오 로그인, 오목이 이름 짓기, 먼저 도착한 편지) 뒤 하단 5탭(미션, 심리테스트, 홈, 온기레터, 나의 온기)과 바깥 연결"/>
          <p:cNvSpPr/>
          <p:nvPr/>
        </p:nvSpPr>
        <p:spPr>
          <a:xfrm>
            <a:off x="1238250" y="3257550"/>
            <a:ext cx="15811500" cy="6362700"/>
          </a:xfrm>
          <a:custGeom>
            <a:avLst/>
            <a:gdLst/>
            <a:ahLst/>
            <a:cxnLst/>
            <a:rect l="l" t="t" r="r" b="b"/>
            <a:pathLst>
              <a:path w="15811500" h="6362700">
                <a:moveTo>
                  <a:pt x="0" y="0"/>
                </a:moveTo>
                <a:lnTo>
                  <a:pt x="15811500" y="0"/>
                </a:lnTo>
                <a:lnTo>
                  <a:pt x="15811500" y="6362700"/>
                </a:lnTo>
                <a:lnTo>
                  <a:pt x="0" y="6362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4" r="-144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2871609" y="905961"/>
            <a:ext cx="164725" cy="164725"/>
            <a:chOff x="0" y="0"/>
            <a:chExt cx="219634" cy="21963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00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651148" y="9710928"/>
            <a:ext cx="822960" cy="342900"/>
            <a:chOff x="0" y="0"/>
            <a:chExt cx="1097280" cy="457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13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6000" y="1531096"/>
            <a:ext cx="16915943" cy="1714500"/>
            <a:chOff x="0" y="0"/>
            <a:chExt cx="22554590" cy="228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554591" cy="2286000"/>
            </a:xfrm>
            <a:custGeom>
              <a:avLst/>
              <a:gdLst/>
              <a:ahLst/>
              <a:cxnLst/>
              <a:rect l="l" t="t" r="r" b="b"/>
              <a:pathLst>
                <a:path w="22554591" h="2286000">
                  <a:moveTo>
                    <a:pt x="0" y="0"/>
                  </a:moveTo>
                  <a:lnTo>
                    <a:pt x="22554591" y="0"/>
                  </a:lnTo>
                  <a:lnTo>
                    <a:pt x="2255459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2247" b="-14224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2554590" cy="2362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0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sp>
        <p:nvSpPr>
          <p:cNvPr id="12" name="Freeform 12" descr="시스템 블록다이어그램: 휴대폰 PWA, Next.js 서버(검증·위기 감지·AI 연결부), 저장 어댑터, 외부 연결"/>
          <p:cNvSpPr/>
          <p:nvPr/>
        </p:nvSpPr>
        <p:spPr>
          <a:xfrm>
            <a:off x="3359254" y="3350371"/>
            <a:ext cx="11734160" cy="6626730"/>
          </a:xfrm>
          <a:custGeom>
            <a:avLst/>
            <a:gdLst/>
            <a:ahLst/>
            <a:cxnLst/>
            <a:rect l="l" t="t" r="r" b="b"/>
            <a:pathLst>
              <a:path w="11734160" h="6626730">
                <a:moveTo>
                  <a:pt x="0" y="0"/>
                </a:moveTo>
                <a:lnTo>
                  <a:pt x="11734160" y="0"/>
                </a:lnTo>
                <a:lnTo>
                  <a:pt x="11734160" y="6626730"/>
                </a:lnTo>
                <a:lnTo>
                  <a:pt x="0" y="6626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" r="-87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823608" y="464468"/>
            <a:ext cx="4114800" cy="32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334000" y="976312"/>
            <a:ext cx="7620000" cy="14288"/>
            <a:chOff x="0" y="0"/>
            <a:chExt cx="10160000" cy="190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60000" cy="19050"/>
            </a:xfrm>
            <a:custGeom>
              <a:avLst/>
              <a:gdLst/>
              <a:ahLst/>
              <a:cxnLst/>
              <a:rect l="l" t="t" r="r" b="b"/>
              <a:pathLst>
                <a:path w="10160000" h="19050">
                  <a:moveTo>
                    <a:pt x="0" y="0"/>
                  </a:moveTo>
                  <a:lnTo>
                    <a:pt x="10160000" y="0"/>
                  </a:lnTo>
                  <a:lnTo>
                    <a:pt x="10160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1600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51609" y="905961"/>
            <a:ext cx="164725" cy="164725"/>
            <a:chOff x="0" y="0"/>
            <a:chExt cx="219634" cy="2196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791640" y="905961"/>
            <a:ext cx="164725" cy="164725"/>
            <a:chOff x="0" y="0"/>
            <a:chExt cx="219634" cy="2196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28612" y="803015"/>
            <a:ext cx="370618" cy="370618"/>
            <a:chOff x="0" y="0"/>
            <a:chExt cx="494157" cy="4941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157" cy="494157"/>
            </a:xfrm>
            <a:custGeom>
              <a:avLst/>
              <a:gdLst/>
              <a:ahLst/>
              <a:cxnLst/>
              <a:rect l="l" t="t" r="r" b="b"/>
              <a:pathLst>
                <a:path w="494157" h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94157" cy="532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871609" y="905961"/>
            <a:ext cx="164725" cy="164725"/>
            <a:chOff x="0" y="0"/>
            <a:chExt cx="219634" cy="21963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921532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8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6"/>
              </a:lnSpc>
              <a:spcBef>
                <a:spcPct val="0"/>
              </a:spcBef>
            </a:pPr>
            <a:r>
              <a:rPr lang="en-US" sz="1650" u="none" strike="noStrik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전체 서비스 흐름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1468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시스템 구조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0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259366" y="1784471"/>
            <a:ext cx="1784471" cy="494162"/>
            <a:chOff x="0" y="0"/>
            <a:chExt cx="2379294" cy="65888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 u="none" strike="noStrik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시스템 구조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98137" y="2255101"/>
            <a:ext cx="16101451" cy="86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7"/>
              </a:lnSpc>
              <a:spcBef>
                <a:spcPct val="0"/>
              </a:spcBef>
            </a:pPr>
            <a:r>
              <a:rPr lang="en-US" sz="4803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시스템</a:t>
            </a:r>
            <a:r>
              <a:rPr lang="en-US" sz="4803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 구조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14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00" y="3543300"/>
            <a:ext cx="15544343" cy="1165860"/>
            <a:chOff x="0" y="0"/>
            <a:chExt cx="20725790" cy="1554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5766" cy="1554480"/>
            </a:xfrm>
            <a:custGeom>
              <a:avLst/>
              <a:gdLst/>
              <a:ahLst/>
              <a:cxnLst/>
              <a:rect l="l" t="t" r="r" b="b"/>
              <a:pathLst>
                <a:path w="20725766" h="155448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0360005" y="0"/>
                  </a:lnTo>
                  <a:cubicBezTo>
                    <a:pt x="20562063" y="0"/>
                    <a:pt x="20725766" y="163703"/>
                    <a:pt x="20725766" y="365760"/>
                  </a:cubicBezTo>
                  <a:lnTo>
                    <a:pt x="20725766" y="1188720"/>
                  </a:lnTo>
                  <a:cubicBezTo>
                    <a:pt x="20725766" y="1390777"/>
                    <a:pt x="20562063" y="1554480"/>
                    <a:pt x="20360005" y="1554480"/>
                  </a:cubicBezTo>
                  <a:lnTo>
                    <a:pt x="365760" y="1554480"/>
                  </a:lnTo>
                  <a:cubicBezTo>
                    <a:pt x="163703" y="1554480"/>
                    <a:pt x="0" y="1390777"/>
                    <a:pt x="0" y="118872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83080" y="3543300"/>
            <a:ext cx="14721383" cy="1165860"/>
            <a:chOff x="0" y="0"/>
            <a:chExt cx="19628510" cy="1554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28510" cy="1554480"/>
            </a:xfrm>
            <a:custGeom>
              <a:avLst/>
              <a:gdLst/>
              <a:ahLst/>
              <a:cxnLst/>
              <a:rect l="l" t="t" r="r" b="b"/>
              <a:pathLst>
                <a:path w="19628510" h="1554480">
                  <a:moveTo>
                    <a:pt x="0" y="0"/>
                  </a:moveTo>
                  <a:lnTo>
                    <a:pt x="19628510" y="0"/>
                  </a:lnTo>
                  <a:lnTo>
                    <a:pt x="1962851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038" b="-1960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9628510" cy="1554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250"/>
                </a:lnSpc>
                <a:spcBef>
                  <a:spcPct val="0"/>
                </a:spcBef>
              </a:pPr>
              <a:r>
                <a:rPr lang="en-US" sz="187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Next.js 16 · React 19 · TypeScript · Tailwind CSS v4 · PWA  |  서버: Next.js API  |  테스트: Vitest 290여 개  |  배포: Vercel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28950" y="4781550"/>
            <a:ext cx="568233" cy="685800"/>
            <a:chOff x="0" y="0"/>
            <a:chExt cx="1287996" cy="1554480"/>
          </a:xfrm>
        </p:grpSpPr>
        <p:sp>
          <p:nvSpPr>
            <p:cNvPr id="12" name="Freeform 12" descr="/home/claude/thumb/ch/A07.png"/>
            <p:cNvSpPr/>
            <p:nvPr/>
          </p:nvSpPr>
          <p:spPr>
            <a:xfrm>
              <a:off x="0" y="0"/>
              <a:ext cx="1288034" cy="1554480"/>
            </a:xfrm>
            <a:custGeom>
              <a:avLst/>
              <a:gdLst/>
              <a:ahLst/>
              <a:cxnLst/>
              <a:rect l="l" t="t" r="r" b="b"/>
              <a:pathLst>
                <a:path w="1288034" h="1554480">
                  <a:moveTo>
                    <a:pt x="0" y="0"/>
                  </a:moveTo>
                  <a:lnTo>
                    <a:pt x="1288034" y="0"/>
                  </a:lnTo>
                  <a:lnTo>
                    <a:pt x="1288034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17904" y="6191250"/>
            <a:ext cx="3593592" cy="548640"/>
            <a:chOff x="0" y="0"/>
            <a:chExt cx="4791456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1단계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17904" y="6743700"/>
            <a:ext cx="3593592" cy="411480"/>
            <a:chOff x="0" y="0"/>
            <a:chExt cx="4791456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91456" cy="548640"/>
            </a:xfrm>
            <a:custGeom>
              <a:avLst/>
              <a:gdLst/>
              <a:ahLst/>
              <a:cxnLst/>
              <a:rect l="l" t="t" r="r" b="b"/>
              <a:pathLst>
                <a:path w="4791456" h="548640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169" b="-12016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지금 동작하는 v1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5064" y="7258050"/>
            <a:ext cx="3319272" cy="891540"/>
            <a:chOff x="0" y="0"/>
            <a:chExt cx="4425696" cy="11887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25696" cy="1188720"/>
            </a:xfrm>
            <a:custGeom>
              <a:avLst/>
              <a:gdLst/>
              <a:ahLst/>
              <a:cxnLst/>
              <a:rect l="l" t="t" r="r" b="b"/>
              <a:pathLst>
                <a:path w="4425696" h="1188720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544" b="-22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시작 화면 · 5탭 · 미션</a:t>
              </a:r>
            </a:p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심리테스트 · 위기 감지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8305800"/>
            <a:ext cx="2057400" cy="466344"/>
            <a:chOff x="0" y="0"/>
            <a:chExt cx="2743200" cy="6217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86000" y="8305800"/>
            <a:ext cx="2057400" cy="466344"/>
            <a:chOff x="0" y="0"/>
            <a:chExt cx="2743200" cy="6217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완료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04104" y="6191250"/>
            <a:ext cx="3593592" cy="548640"/>
            <a:chOff x="0" y="0"/>
            <a:chExt cx="4791456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2단계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04104" y="6743700"/>
            <a:ext cx="3593592" cy="411480"/>
            <a:chOff x="0" y="0"/>
            <a:chExt cx="4791456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91456" cy="548640"/>
            </a:xfrm>
            <a:custGeom>
              <a:avLst/>
              <a:gdLst/>
              <a:ahLst/>
              <a:cxnLst/>
              <a:rect l="l" t="t" r="r" b="b"/>
              <a:pathLst>
                <a:path w="4791456" h="548640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169" b="-12016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AI 대화 연결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541264" y="7258050"/>
            <a:ext cx="3319272" cy="891540"/>
            <a:chOff x="0" y="0"/>
            <a:chExt cx="4425696" cy="11887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425696" cy="1188720"/>
            </a:xfrm>
            <a:custGeom>
              <a:avLst/>
              <a:gdLst/>
              <a:ahLst/>
              <a:cxnLst/>
              <a:rect l="l" t="t" r="r" b="b"/>
              <a:pathLst>
                <a:path w="4425696" h="1188720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544" b="-22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Claude API 구현체 추가</a:t>
              </a:r>
            </a:p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말투 프롬프트는 준비 완료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72200" y="8305800"/>
            <a:ext cx="2057400" cy="466344"/>
            <a:chOff x="0" y="0"/>
            <a:chExt cx="2743200" cy="6217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72200" y="8305800"/>
            <a:ext cx="2057400" cy="466344"/>
            <a:chOff x="0" y="0"/>
            <a:chExt cx="2743200" cy="6217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예정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290304" y="6191250"/>
            <a:ext cx="3593592" cy="548640"/>
            <a:chOff x="0" y="0"/>
            <a:chExt cx="4791456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3단계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290304" y="6743700"/>
            <a:ext cx="3593592" cy="411480"/>
            <a:chOff x="0" y="0"/>
            <a:chExt cx="4791456" cy="548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91456" cy="548640"/>
            </a:xfrm>
            <a:custGeom>
              <a:avLst/>
              <a:gdLst/>
              <a:ahLst/>
              <a:cxnLst/>
              <a:rect l="l" t="t" r="r" b="b"/>
              <a:pathLst>
                <a:path w="4791456" h="548640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169" b="-12016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계정 · 기록 동기화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27464" y="7258050"/>
            <a:ext cx="3319272" cy="891540"/>
            <a:chOff x="0" y="0"/>
            <a:chExt cx="4425696" cy="11887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425696" cy="1188720"/>
            </a:xfrm>
            <a:custGeom>
              <a:avLst/>
              <a:gdLst/>
              <a:ahLst/>
              <a:cxnLst/>
              <a:rect l="l" t="t" r="r" b="b"/>
              <a:pathLst>
                <a:path w="4425696" h="1188720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544" b="-22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Supabase 카카오 로그인</a:t>
              </a:r>
            </a:p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기기 저장 → DB 어댑터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058400" y="8305800"/>
            <a:ext cx="2057400" cy="466344"/>
            <a:chOff x="0" y="0"/>
            <a:chExt cx="2743200" cy="6217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058400" y="8305800"/>
            <a:ext cx="2057400" cy="466344"/>
            <a:chOff x="0" y="0"/>
            <a:chExt cx="2743200" cy="6217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예정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725650" y="4743450"/>
            <a:ext cx="488257" cy="685800"/>
            <a:chOff x="0" y="0"/>
            <a:chExt cx="1106716" cy="1554480"/>
          </a:xfrm>
        </p:grpSpPr>
        <p:sp>
          <p:nvSpPr>
            <p:cNvPr id="56" name="Freeform 56" descr="/home/claude/thumb/ch/sB12.png"/>
            <p:cNvSpPr/>
            <p:nvPr/>
          </p:nvSpPr>
          <p:spPr>
            <a:xfrm>
              <a:off x="0" y="0"/>
              <a:ext cx="1106678" cy="1554480"/>
            </a:xfrm>
            <a:custGeom>
              <a:avLst/>
              <a:gdLst/>
              <a:ahLst/>
              <a:cxnLst/>
              <a:rect l="l" t="t" r="r" b="b"/>
              <a:pathLst>
                <a:path w="1106678" h="1554480">
                  <a:moveTo>
                    <a:pt x="0" y="0"/>
                  </a:moveTo>
                  <a:lnTo>
                    <a:pt x="1106678" y="0"/>
                  </a:lnTo>
                  <a:lnTo>
                    <a:pt x="1106678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176504" y="6191250"/>
            <a:ext cx="3593592" cy="548640"/>
            <a:chOff x="0" y="0"/>
            <a:chExt cx="4791456" cy="7315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4단계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176504" y="6743700"/>
            <a:ext cx="3593592" cy="411480"/>
            <a:chOff x="0" y="0"/>
            <a:chExt cx="4791456" cy="5486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791456" cy="548640"/>
            </a:xfrm>
            <a:custGeom>
              <a:avLst/>
              <a:gdLst/>
              <a:ahLst/>
              <a:cxnLst/>
              <a:rect l="l" t="t" r="r" b="b"/>
              <a:pathLst>
                <a:path w="4791456" h="548640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169" b="-12016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u="none" strike="noStrike">
                  <a:solidFill>
                    <a:srgbClr val="5A4418"/>
                  </a:solidFill>
                  <a:latin typeface="Noto Sans"/>
                  <a:ea typeface="Noto Sans"/>
                  <a:cs typeface="Noto Sans"/>
                  <a:sym typeface="Noto Sans"/>
                </a:rPr>
                <a:t>배포 · 검증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313664" y="7258050"/>
            <a:ext cx="3319272" cy="891540"/>
            <a:chOff x="0" y="0"/>
            <a:chExt cx="4425696" cy="11887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425696" cy="1188720"/>
            </a:xfrm>
            <a:custGeom>
              <a:avLst/>
              <a:gdLst/>
              <a:ahLst/>
              <a:cxnLst/>
              <a:rect l="l" t="t" r="r" b="b"/>
              <a:pathLst>
                <a:path w="4425696" h="1188720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544" b="-22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Vercel 배포 · KPI 기록</a:t>
              </a:r>
            </a:p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 시연 → 파일럿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944600" y="8305800"/>
            <a:ext cx="2057400" cy="466344"/>
            <a:chOff x="0" y="0"/>
            <a:chExt cx="2743200" cy="6217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F2A2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944600" y="8305800"/>
            <a:ext cx="2057400" cy="466344"/>
            <a:chOff x="0" y="0"/>
            <a:chExt cx="2743200" cy="62179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 u="none" strike="noStrike">
                  <a:solidFill>
                    <a:srgbClr val="F5C8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최종 목표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823608" y="464468"/>
            <a:ext cx="4114800" cy="32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5334000" y="976312"/>
            <a:ext cx="7620000" cy="14288"/>
            <a:chOff x="0" y="0"/>
            <a:chExt cx="10160000" cy="1905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160000" cy="19050"/>
            </a:xfrm>
            <a:custGeom>
              <a:avLst/>
              <a:gdLst/>
              <a:ahLst/>
              <a:cxnLst/>
              <a:rect l="l" t="t" r="r" b="b"/>
              <a:pathLst>
                <a:path w="10160000" h="19050">
                  <a:moveTo>
                    <a:pt x="0" y="0"/>
                  </a:moveTo>
                  <a:lnTo>
                    <a:pt x="10160000" y="0"/>
                  </a:lnTo>
                  <a:lnTo>
                    <a:pt x="10160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101600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251609" y="905961"/>
            <a:ext cx="164725" cy="164725"/>
            <a:chOff x="0" y="0"/>
            <a:chExt cx="219634" cy="21963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91640" y="905961"/>
            <a:ext cx="164725" cy="164725"/>
            <a:chOff x="0" y="0"/>
            <a:chExt cx="219634" cy="21963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331577" y="905961"/>
            <a:ext cx="164725" cy="164725"/>
            <a:chOff x="0" y="0"/>
            <a:chExt cx="219634" cy="21963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768644" y="803015"/>
            <a:ext cx="370618" cy="370618"/>
            <a:chOff x="0" y="0"/>
            <a:chExt cx="494157" cy="494157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94157" cy="494157"/>
            </a:xfrm>
            <a:custGeom>
              <a:avLst/>
              <a:gdLst/>
              <a:ahLst/>
              <a:cxnLst/>
              <a:rect l="l" t="t" r="r" b="b"/>
              <a:pathLst>
                <a:path w="494157" h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494157" cy="532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6921532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38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6"/>
              </a:lnSpc>
              <a:spcBef>
                <a:spcPct val="0"/>
              </a:spcBef>
            </a:pPr>
            <a:r>
              <a:rPr lang="en-US" sz="1650" u="none" strike="noStrik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전체 서비스 흐름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461468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2001500" y="1219438"/>
            <a:ext cx="1905000" cy="30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구현 계획</a:t>
            </a:r>
          </a:p>
        </p:txBody>
      </p:sp>
      <p:grpSp>
        <p:nvGrpSpPr>
          <p:cNvPr id="94" name="Group 94"/>
          <p:cNvGrpSpPr/>
          <p:nvPr/>
        </p:nvGrpSpPr>
        <p:grpSpPr>
          <a:xfrm>
            <a:off x="8259366" y="1784471"/>
            <a:ext cx="1784471" cy="494162"/>
            <a:chOff x="0" y="0"/>
            <a:chExt cx="2379294" cy="658883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구현 계획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1098137" y="2255101"/>
            <a:ext cx="16101451" cy="86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7"/>
              </a:lnSpc>
              <a:spcBef>
                <a:spcPct val="0"/>
              </a:spcBef>
            </a:pPr>
            <a:r>
              <a:rPr lang="en-US" sz="4803" b="1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AI · 계정 · 배포</a:t>
            </a:r>
            <a:r>
              <a:rPr lang="en-US" sz="4803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 연결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3314700" y="5686425"/>
            <a:ext cx="11658600" cy="57150"/>
            <a:chOff x="0" y="0"/>
            <a:chExt cx="15544800" cy="762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5544800" cy="76200"/>
            </a:xfrm>
            <a:custGeom>
              <a:avLst/>
              <a:gdLst/>
              <a:ahLst/>
              <a:cxnLst/>
              <a:rect l="l" t="t" r="r" b="b"/>
              <a:pathLst>
                <a:path w="15544800" h="76200">
                  <a:moveTo>
                    <a:pt x="0" y="0"/>
                  </a:moveTo>
                  <a:lnTo>
                    <a:pt x="15544800" y="0"/>
                  </a:lnTo>
                  <a:lnTo>
                    <a:pt x="15544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4D9C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155448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3314700" y="5686425"/>
            <a:ext cx="1943100" cy="57150"/>
            <a:chOff x="0" y="0"/>
            <a:chExt cx="2590800" cy="762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0" y="0"/>
                  </a:moveTo>
                  <a:lnTo>
                    <a:pt x="2590800" y="0"/>
                  </a:lnTo>
                  <a:lnTo>
                    <a:pt x="2590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9A1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25908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3105150" y="5505450"/>
            <a:ext cx="419100" cy="419100"/>
            <a:chOff x="0" y="0"/>
            <a:chExt cx="558800" cy="5588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279400"/>
                  </a:moveTo>
                  <a:cubicBezTo>
                    <a:pt x="0" y="125092"/>
                    <a:pt x="125092" y="0"/>
                    <a:pt x="279400" y="0"/>
                  </a:cubicBez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lose/>
                </a:path>
              </a:pathLst>
            </a:custGeom>
            <a:solidFill>
              <a:srgbClr val="E39A1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7029450" y="5543550"/>
            <a:ext cx="342900" cy="342900"/>
            <a:chOff x="0" y="0"/>
            <a:chExt cx="457200" cy="4572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48"/>
                    <a:pt x="102348" y="0"/>
                    <a:pt x="228600" y="0"/>
                  </a:cubicBez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39A1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915650" y="5543550"/>
            <a:ext cx="342900" cy="342900"/>
            <a:chOff x="0" y="0"/>
            <a:chExt cx="457200" cy="4572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48"/>
                    <a:pt x="102348" y="0"/>
                    <a:pt x="228600" y="0"/>
                  </a:cubicBez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39A1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4706600" y="5448300"/>
            <a:ext cx="533400" cy="533400"/>
            <a:chOff x="0" y="0"/>
            <a:chExt cx="711200" cy="7112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0" y="355600"/>
                  </a:moveTo>
                  <a:cubicBezTo>
                    <a:pt x="0" y="159208"/>
                    <a:pt x="159208" y="0"/>
                    <a:pt x="355600" y="0"/>
                  </a:cubicBez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lose/>
                </a:path>
              </a:pathLst>
            </a:custGeom>
            <a:solidFill>
              <a:srgbClr val="F5C83A"/>
            </a:solidFill>
            <a:ln w="38100" cap="sq">
              <a:solidFill>
                <a:srgbClr val="2F2A2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8971" y="384048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RESEARCH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1165860"/>
            <a:ext cx="16915943" cy="1666052"/>
            <a:chOff x="0" y="0"/>
            <a:chExt cx="22554590" cy="22214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54591" cy="2221403"/>
            </a:xfrm>
            <a:custGeom>
              <a:avLst/>
              <a:gdLst/>
              <a:ahLst/>
              <a:cxnLst/>
              <a:rect l="l" t="t" r="r" b="b"/>
              <a:pathLst>
                <a:path w="22554591" h="2221403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441" b="-14723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오목이 · 미션 · 심리테스트는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선행 연구와 검증된 척도</a:t>
              </a: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를 설계에 반영했습니다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0180" y="3223260"/>
            <a:ext cx="4594860" cy="2125980"/>
            <a:chOff x="0" y="0"/>
            <a:chExt cx="6126480" cy="2834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26480" cy="2834640"/>
            </a:xfrm>
            <a:custGeom>
              <a:avLst/>
              <a:gdLst/>
              <a:ahLst/>
              <a:cxnLst/>
              <a:rect l="l" t="t" r="r" b="b"/>
              <a:pathLst>
                <a:path w="6126480" h="283464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5687568" y="0"/>
                  </a:lnTo>
                  <a:cubicBezTo>
                    <a:pt x="5930011" y="0"/>
                    <a:pt x="6126480" y="196469"/>
                    <a:pt x="6126480" y="438912"/>
                  </a:cubicBezTo>
                  <a:lnTo>
                    <a:pt x="6126480" y="2395728"/>
                  </a:lnTo>
                  <a:cubicBezTo>
                    <a:pt x="6126480" y="2638171"/>
                    <a:pt x="5930011" y="2834640"/>
                    <a:pt x="5687568" y="2834640"/>
                  </a:cubicBezTo>
                  <a:lnTo>
                    <a:pt x="438912" y="2834640"/>
                  </a:lnTo>
                  <a:cubicBezTo>
                    <a:pt x="196469" y="2834640"/>
                    <a:pt x="0" y="2638171"/>
                    <a:pt x="0" y="23957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42235" y="2948940"/>
            <a:ext cx="2190750" cy="493776"/>
            <a:chOff x="0" y="0"/>
            <a:chExt cx="2921000" cy="6583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21000" cy="658368"/>
            </a:xfrm>
            <a:custGeom>
              <a:avLst/>
              <a:gdLst/>
              <a:ahLst/>
              <a:cxnLst/>
              <a:rect l="l" t="t" r="r" b="b"/>
              <a:pathLst>
                <a:path w="2921000" h="658368">
                  <a:moveTo>
                    <a:pt x="0" y="329184"/>
                  </a:moveTo>
                  <a:cubicBezTo>
                    <a:pt x="0" y="147320"/>
                    <a:pt x="213912" y="0"/>
                    <a:pt x="477982" y="0"/>
                  </a:cubicBezTo>
                  <a:lnTo>
                    <a:pt x="2443018" y="0"/>
                  </a:lnTo>
                  <a:cubicBezTo>
                    <a:pt x="2707088" y="0"/>
                    <a:pt x="2921000" y="147320"/>
                    <a:pt x="2921000" y="329184"/>
                  </a:cubicBezTo>
                  <a:cubicBezTo>
                    <a:pt x="2921000" y="511048"/>
                    <a:pt x="2707088" y="658368"/>
                    <a:pt x="2443018" y="658368"/>
                  </a:cubicBezTo>
                  <a:lnTo>
                    <a:pt x="477982" y="658368"/>
                  </a:lnTo>
                  <a:cubicBezTo>
                    <a:pt x="213912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5C83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42235" y="2948940"/>
            <a:ext cx="2190750" cy="493776"/>
            <a:chOff x="0" y="0"/>
            <a:chExt cx="2921000" cy="6583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21000" cy="658368"/>
            </a:xfrm>
            <a:custGeom>
              <a:avLst/>
              <a:gdLst/>
              <a:ahLst/>
              <a:cxnLst/>
              <a:rect l="l" t="t" r="r" b="b"/>
              <a:pathLst>
                <a:path w="2921000" h="658368">
                  <a:moveTo>
                    <a:pt x="0" y="0"/>
                  </a:moveTo>
                  <a:lnTo>
                    <a:pt x="2921000" y="0"/>
                  </a:lnTo>
                  <a:lnTo>
                    <a:pt x="2921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537" r="31130" b="-95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92100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980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UX 선행 사례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45920" y="3429000"/>
            <a:ext cx="4183380" cy="1783080"/>
            <a:chOff x="0" y="0"/>
            <a:chExt cx="5577840" cy="2377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77840" cy="2377440"/>
            </a:xfrm>
            <a:custGeom>
              <a:avLst/>
              <a:gdLst/>
              <a:ahLst/>
              <a:cxnLst/>
              <a:rect l="l" t="t" r="r" b="b"/>
              <a:pathLst>
                <a:path w="5577840" h="2377440">
                  <a:moveTo>
                    <a:pt x="0" y="0"/>
                  </a:moveTo>
                  <a:lnTo>
                    <a:pt x="5577840" y="0"/>
                  </a:lnTo>
                  <a:lnTo>
                    <a:pt x="55778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86" r="-468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5577840" cy="2377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23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썸원: 매일 질문에 답하며</a:t>
              </a:r>
            </a:p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23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캐릭터를 함께 키움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504438" y="5335524"/>
            <a:ext cx="466344" cy="274320"/>
            <a:chOff x="0" y="0"/>
            <a:chExt cx="621792" cy="3657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1792" cy="365760"/>
            </a:xfrm>
            <a:custGeom>
              <a:avLst/>
              <a:gdLst/>
              <a:ahLst/>
              <a:cxnLst/>
              <a:rect l="l" t="t" r="r" b="b"/>
              <a:pathLst>
                <a:path w="621792" h="365760">
                  <a:moveTo>
                    <a:pt x="0" y="0"/>
                  </a:moveTo>
                  <a:lnTo>
                    <a:pt x="310896" y="36576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55725" y="5829300"/>
            <a:ext cx="1363761" cy="1645920"/>
            <a:chOff x="0" y="0"/>
            <a:chExt cx="1818348" cy="2194560"/>
          </a:xfrm>
        </p:grpSpPr>
        <p:sp>
          <p:nvSpPr>
            <p:cNvPr id="25" name="Freeform 25" descr="/home/claude/thumb/ch/A07.png"/>
            <p:cNvSpPr/>
            <p:nvPr/>
          </p:nvSpPr>
          <p:spPr>
            <a:xfrm>
              <a:off x="0" y="0"/>
              <a:ext cx="1818386" cy="2194560"/>
            </a:xfrm>
            <a:custGeom>
              <a:avLst/>
              <a:gdLst/>
              <a:ahLst/>
              <a:cxnLst/>
              <a:rect l="l" t="t" r="r" b="b"/>
              <a:pathLst>
                <a:path w="1818386" h="2194560">
                  <a:moveTo>
                    <a:pt x="0" y="0"/>
                  </a:moveTo>
                  <a:lnTo>
                    <a:pt x="1818386" y="0"/>
                  </a:lnTo>
                  <a:lnTo>
                    <a:pt x="1818386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40180" y="7543800"/>
            <a:ext cx="4594860" cy="685800"/>
            <a:chOff x="0" y="0"/>
            <a:chExt cx="612648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549" b="-8054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61264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960"/>
                </a:lnSpc>
                <a:spcBef>
                  <a:spcPct val="0"/>
                </a:spcBef>
              </a:pPr>
              <a:r>
                <a:rPr lang="en-US" sz="3300" b="1" u="none" strike="noStrik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성장 구조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40180" y="8229600"/>
            <a:ext cx="4594860" cy="480060"/>
            <a:chOff x="0" y="0"/>
            <a:chExt cx="6126480" cy="6400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126480" cy="640080"/>
            </a:xfrm>
            <a:custGeom>
              <a:avLst/>
              <a:gdLst/>
              <a:ahLst/>
              <a:cxnLst/>
              <a:rect l="l" t="t" r="r" b="b"/>
              <a:pathLst>
                <a:path w="6126480" h="640080">
                  <a:moveTo>
                    <a:pt x="0" y="0"/>
                  </a:moveTo>
                  <a:lnTo>
                    <a:pt x="6126480" y="0"/>
                  </a:lnTo>
                  <a:lnTo>
                    <a:pt x="612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6499" b="-1364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61264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250"/>
                </a:lnSpc>
                <a:spcBef>
                  <a:spcPct val="0"/>
                </a:spcBef>
              </a:pPr>
              <a:r>
                <a:rPr lang="en-US" sz="1875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미션 누적으로 자라는 오목이 5단계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0" y="3223260"/>
            <a:ext cx="4594860" cy="2125980"/>
            <a:chOff x="0" y="0"/>
            <a:chExt cx="6126480" cy="2834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126480" cy="2834640"/>
            </a:xfrm>
            <a:custGeom>
              <a:avLst/>
              <a:gdLst/>
              <a:ahLst/>
              <a:cxnLst/>
              <a:rect l="l" t="t" r="r" b="b"/>
              <a:pathLst>
                <a:path w="6126480" h="283464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5687568" y="0"/>
                  </a:lnTo>
                  <a:cubicBezTo>
                    <a:pt x="5930011" y="0"/>
                    <a:pt x="6126480" y="196469"/>
                    <a:pt x="6126480" y="438912"/>
                  </a:cubicBezTo>
                  <a:lnTo>
                    <a:pt x="6126480" y="2395728"/>
                  </a:lnTo>
                  <a:cubicBezTo>
                    <a:pt x="6126480" y="2638171"/>
                    <a:pt x="5930011" y="2834640"/>
                    <a:pt x="5687568" y="2834640"/>
                  </a:cubicBezTo>
                  <a:lnTo>
                    <a:pt x="438912" y="2834640"/>
                  </a:lnTo>
                  <a:cubicBezTo>
                    <a:pt x="196469" y="2834640"/>
                    <a:pt x="0" y="2638171"/>
                    <a:pt x="0" y="23957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60055" y="2948940"/>
            <a:ext cx="2190750" cy="493776"/>
            <a:chOff x="0" y="0"/>
            <a:chExt cx="2921000" cy="6583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921000" cy="658368"/>
            </a:xfrm>
            <a:custGeom>
              <a:avLst/>
              <a:gdLst/>
              <a:ahLst/>
              <a:cxnLst/>
              <a:rect l="l" t="t" r="r" b="b"/>
              <a:pathLst>
                <a:path w="2921000" h="658368">
                  <a:moveTo>
                    <a:pt x="0" y="329184"/>
                  </a:moveTo>
                  <a:cubicBezTo>
                    <a:pt x="0" y="147320"/>
                    <a:pt x="213912" y="0"/>
                    <a:pt x="477982" y="0"/>
                  </a:cubicBezTo>
                  <a:lnTo>
                    <a:pt x="2443018" y="0"/>
                  </a:lnTo>
                  <a:cubicBezTo>
                    <a:pt x="2707088" y="0"/>
                    <a:pt x="2921000" y="147320"/>
                    <a:pt x="2921000" y="329184"/>
                  </a:cubicBezTo>
                  <a:cubicBezTo>
                    <a:pt x="2921000" y="511048"/>
                    <a:pt x="2707088" y="658368"/>
                    <a:pt x="2443018" y="658368"/>
                  </a:cubicBezTo>
                  <a:lnTo>
                    <a:pt x="477982" y="658368"/>
                  </a:lnTo>
                  <a:cubicBezTo>
                    <a:pt x="213912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5C83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60055" y="2948940"/>
            <a:ext cx="2190750" cy="493776"/>
            <a:chOff x="0" y="0"/>
            <a:chExt cx="2921000" cy="6583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921000" cy="658368"/>
            </a:xfrm>
            <a:custGeom>
              <a:avLst/>
              <a:gdLst/>
              <a:ahLst/>
              <a:cxnLst/>
              <a:rect l="l" t="t" r="r" b="b"/>
              <a:pathLst>
                <a:path w="2921000" h="658368">
                  <a:moveTo>
                    <a:pt x="0" y="0"/>
                  </a:moveTo>
                  <a:lnTo>
                    <a:pt x="2921000" y="0"/>
                  </a:lnTo>
                  <a:lnTo>
                    <a:pt x="2921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537" r="31130" b="-95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292100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980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앱 이탈 연구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63740" y="3429000"/>
            <a:ext cx="4183380" cy="1783080"/>
            <a:chOff x="0" y="0"/>
            <a:chExt cx="5577840" cy="2377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577840" cy="2377440"/>
            </a:xfrm>
            <a:custGeom>
              <a:avLst/>
              <a:gdLst/>
              <a:ahLst/>
              <a:cxnLst/>
              <a:rect l="l" t="t" r="r" b="b"/>
              <a:pathLst>
                <a:path w="5577840" h="2377440">
                  <a:moveTo>
                    <a:pt x="0" y="0"/>
                  </a:moveTo>
                  <a:lnTo>
                    <a:pt x="5577840" y="0"/>
                  </a:lnTo>
                  <a:lnTo>
                    <a:pt x="55778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86" r="-468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5577840" cy="2377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23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정신건강 앱 사용자</a:t>
              </a:r>
            </a:p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23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대부분 2주 안에 떠남</a:t>
              </a:r>
            </a:p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23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(Baumel et al., 2019)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922258" y="5335524"/>
            <a:ext cx="466344" cy="274320"/>
            <a:chOff x="0" y="0"/>
            <a:chExt cx="621792" cy="3657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21792" cy="365760"/>
            </a:xfrm>
            <a:custGeom>
              <a:avLst/>
              <a:gdLst/>
              <a:ahLst/>
              <a:cxnLst/>
              <a:rect l="l" t="t" r="r" b="b"/>
              <a:pathLst>
                <a:path w="621792" h="365760">
                  <a:moveTo>
                    <a:pt x="0" y="0"/>
                  </a:moveTo>
                  <a:lnTo>
                    <a:pt x="310896" y="36576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80444" y="5829300"/>
            <a:ext cx="1749971" cy="1645920"/>
            <a:chOff x="0" y="0"/>
            <a:chExt cx="2333295" cy="2194560"/>
          </a:xfrm>
        </p:grpSpPr>
        <p:sp>
          <p:nvSpPr>
            <p:cNvPr id="45" name="Freeform 45" descr="/home/claude/thumb/ch/A13.png"/>
            <p:cNvSpPr/>
            <p:nvPr/>
          </p:nvSpPr>
          <p:spPr>
            <a:xfrm>
              <a:off x="0" y="0"/>
              <a:ext cx="2333244" cy="2194560"/>
            </a:xfrm>
            <a:custGeom>
              <a:avLst/>
              <a:gdLst/>
              <a:ahLst/>
              <a:cxnLst/>
              <a:rect l="l" t="t" r="r" b="b"/>
              <a:pathLst>
                <a:path w="2333244" h="2194560">
                  <a:moveTo>
                    <a:pt x="0" y="0"/>
                  </a:moveTo>
                  <a:lnTo>
                    <a:pt x="2333244" y="0"/>
                  </a:lnTo>
                  <a:lnTo>
                    <a:pt x="2333244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0" y="7543800"/>
            <a:ext cx="4594860" cy="685800"/>
            <a:chOff x="0" y="0"/>
            <a:chExt cx="6126480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549" b="-8054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61264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960"/>
                </a:lnSpc>
                <a:spcBef>
                  <a:spcPct val="0"/>
                </a:spcBef>
              </a:pPr>
              <a:r>
                <a:rPr lang="en-US" sz="3300" b="1" u="none" strike="noStrik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초반 성장 보상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0" y="8229600"/>
            <a:ext cx="4594860" cy="480060"/>
            <a:chOff x="0" y="0"/>
            <a:chExt cx="6126480" cy="6400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126480" cy="640080"/>
            </a:xfrm>
            <a:custGeom>
              <a:avLst/>
              <a:gdLst/>
              <a:ahLst/>
              <a:cxnLst/>
              <a:rect l="l" t="t" r="r" b="b"/>
              <a:pathLst>
                <a:path w="6126480" h="640080">
                  <a:moveTo>
                    <a:pt x="0" y="0"/>
                  </a:moveTo>
                  <a:lnTo>
                    <a:pt x="6126480" y="0"/>
                  </a:lnTo>
                  <a:lnTo>
                    <a:pt x="612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6499" b="-1364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61264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250"/>
                </a:lnSpc>
                <a:spcBef>
                  <a:spcPct val="0"/>
                </a:spcBef>
              </a:pPr>
              <a:r>
                <a:rPr lang="en-US" sz="18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초반 단계 빠르게 성장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275820" y="3223260"/>
            <a:ext cx="4594860" cy="2125980"/>
            <a:chOff x="0" y="0"/>
            <a:chExt cx="6126480" cy="28346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126480" cy="2834640"/>
            </a:xfrm>
            <a:custGeom>
              <a:avLst/>
              <a:gdLst/>
              <a:ahLst/>
              <a:cxnLst/>
              <a:rect l="l" t="t" r="r" b="b"/>
              <a:pathLst>
                <a:path w="6126480" h="283464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5687568" y="0"/>
                  </a:lnTo>
                  <a:cubicBezTo>
                    <a:pt x="5930011" y="0"/>
                    <a:pt x="6126480" y="196469"/>
                    <a:pt x="6126480" y="438912"/>
                  </a:cubicBezTo>
                  <a:lnTo>
                    <a:pt x="6126480" y="2395728"/>
                  </a:lnTo>
                  <a:cubicBezTo>
                    <a:pt x="6126480" y="2638171"/>
                    <a:pt x="5930011" y="2834640"/>
                    <a:pt x="5687568" y="2834640"/>
                  </a:cubicBezTo>
                  <a:lnTo>
                    <a:pt x="438912" y="2834640"/>
                  </a:lnTo>
                  <a:cubicBezTo>
                    <a:pt x="196469" y="2834640"/>
                    <a:pt x="0" y="2638171"/>
                    <a:pt x="0" y="23957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477875" y="2948940"/>
            <a:ext cx="2190750" cy="493776"/>
            <a:chOff x="0" y="0"/>
            <a:chExt cx="2921000" cy="65836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921000" cy="658368"/>
            </a:xfrm>
            <a:custGeom>
              <a:avLst/>
              <a:gdLst/>
              <a:ahLst/>
              <a:cxnLst/>
              <a:rect l="l" t="t" r="r" b="b"/>
              <a:pathLst>
                <a:path w="2921000" h="658368">
                  <a:moveTo>
                    <a:pt x="0" y="329184"/>
                  </a:moveTo>
                  <a:cubicBezTo>
                    <a:pt x="0" y="147320"/>
                    <a:pt x="213912" y="0"/>
                    <a:pt x="477982" y="0"/>
                  </a:cubicBezTo>
                  <a:lnTo>
                    <a:pt x="2443018" y="0"/>
                  </a:lnTo>
                  <a:cubicBezTo>
                    <a:pt x="2707088" y="0"/>
                    <a:pt x="2921000" y="147320"/>
                    <a:pt x="2921000" y="329184"/>
                  </a:cubicBezTo>
                  <a:cubicBezTo>
                    <a:pt x="2921000" y="511048"/>
                    <a:pt x="2707088" y="658368"/>
                    <a:pt x="2443018" y="658368"/>
                  </a:cubicBezTo>
                  <a:lnTo>
                    <a:pt x="477982" y="658368"/>
                  </a:lnTo>
                  <a:cubicBezTo>
                    <a:pt x="213912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5C83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477875" y="2948940"/>
            <a:ext cx="2190750" cy="493776"/>
            <a:chOff x="0" y="0"/>
            <a:chExt cx="2921000" cy="65836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921000" cy="658368"/>
            </a:xfrm>
            <a:custGeom>
              <a:avLst/>
              <a:gdLst/>
              <a:ahLst/>
              <a:cxnLst/>
              <a:rect l="l" t="t" r="r" b="b"/>
              <a:pathLst>
                <a:path w="2921000" h="658368">
                  <a:moveTo>
                    <a:pt x="0" y="0"/>
                  </a:moveTo>
                  <a:lnTo>
                    <a:pt x="2921000" y="0"/>
                  </a:lnTo>
                  <a:lnTo>
                    <a:pt x="2921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537" r="31130" b="-95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292100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980"/>
                </a:lnSpc>
                <a:spcBef>
                  <a:spcPct val="0"/>
                </a:spcBef>
              </a:pPr>
              <a:r>
                <a:rPr lang="en-US" sz="1650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공개 심리척도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481560" y="3429000"/>
            <a:ext cx="4183380" cy="1783080"/>
            <a:chOff x="0" y="0"/>
            <a:chExt cx="5577840" cy="23774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577840" cy="2377440"/>
            </a:xfrm>
            <a:custGeom>
              <a:avLst/>
              <a:gdLst/>
              <a:ahLst/>
              <a:cxnLst/>
              <a:rect l="l" t="t" r="r" b="b"/>
              <a:pathLst>
                <a:path w="5577840" h="2377440">
                  <a:moveTo>
                    <a:pt x="0" y="0"/>
                  </a:moveTo>
                  <a:lnTo>
                    <a:pt x="5577840" y="0"/>
                  </a:lnTo>
                  <a:lnTo>
                    <a:pt x="55778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86" r="-468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5577840" cy="2377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23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Brief COPE · WHO-5</a:t>
              </a:r>
            </a:p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2325" b="1" u="none" strike="noStrik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로젠버그 자존감 척도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340078" y="5335524"/>
            <a:ext cx="466344" cy="274320"/>
            <a:chOff x="0" y="0"/>
            <a:chExt cx="621792" cy="3657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21792" cy="365760"/>
            </a:xfrm>
            <a:custGeom>
              <a:avLst/>
              <a:gdLst/>
              <a:ahLst/>
              <a:cxnLst/>
              <a:rect l="l" t="t" r="r" b="b"/>
              <a:pathLst>
                <a:path w="621792" h="365760">
                  <a:moveTo>
                    <a:pt x="0" y="0"/>
                  </a:moveTo>
                  <a:lnTo>
                    <a:pt x="310896" y="36576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607491" y="5829300"/>
            <a:ext cx="1931518" cy="1645920"/>
            <a:chOff x="0" y="0"/>
            <a:chExt cx="2575357" cy="2194560"/>
          </a:xfrm>
        </p:grpSpPr>
        <p:sp>
          <p:nvSpPr>
            <p:cNvPr id="65" name="Freeform 65" descr="/home/claude/thumb/ch/sB13.png"/>
            <p:cNvSpPr/>
            <p:nvPr/>
          </p:nvSpPr>
          <p:spPr>
            <a:xfrm>
              <a:off x="0" y="0"/>
              <a:ext cx="2575306" cy="2194560"/>
            </a:xfrm>
            <a:custGeom>
              <a:avLst/>
              <a:gdLst/>
              <a:ahLst/>
              <a:cxnLst/>
              <a:rect l="l" t="t" r="r" b="b"/>
              <a:pathLst>
                <a:path w="2575306" h="2194560">
                  <a:moveTo>
                    <a:pt x="0" y="0"/>
                  </a:moveTo>
                  <a:lnTo>
                    <a:pt x="2575306" y="0"/>
                  </a:lnTo>
                  <a:lnTo>
                    <a:pt x="2575306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275820" y="7543800"/>
            <a:ext cx="4594860" cy="685800"/>
            <a:chOff x="0" y="0"/>
            <a:chExt cx="6126480" cy="9144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549" b="-8054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61264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960"/>
                </a:lnSpc>
                <a:spcBef>
                  <a:spcPct val="0"/>
                </a:spcBef>
              </a:pPr>
              <a:r>
                <a:rPr lang="en-US" sz="3300" b="1" u="none" strike="noStrik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심리테스트 3종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275820" y="8229600"/>
            <a:ext cx="4594860" cy="480060"/>
            <a:chOff x="0" y="0"/>
            <a:chExt cx="6126480" cy="64008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126480" cy="640080"/>
            </a:xfrm>
            <a:custGeom>
              <a:avLst/>
              <a:gdLst/>
              <a:ahLst/>
              <a:cxnLst/>
              <a:rect l="l" t="t" r="r" b="b"/>
              <a:pathLst>
                <a:path w="6126480" h="640080">
                  <a:moveTo>
                    <a:pt x="0" y="0"/>
                  </a:moveTo>
                  <a:lnTo>
                    <a:pt x="6126480" y="0"/>
                  </a:lnTo>
                  <a:lnTo>
                    <a:pt x="612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6499" b="-1364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61264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250"/>
                </a:lnSpc>
                <a:spcBef>
                  <a:spcPct val="0"/>
                </a:spcBef>
              </a:pPr>
              <a:r>
                <a:rPr lang="en-US" sz="1875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라이선스 확인 후 우리말로 옮김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0" y="9217152"/>
            <a:ext cx="18287543" cy="480060"/>
            <a:chOff x="0" y="0"/>
            <a:chExt cx="24383390" cy="64008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383391" cy="640080"/>
            </a:xfrm>
            <a:custGeom>
              <a:avLst/>
              <a:gdLst/>
              <a:ahLst/>
              <a:cxnLst/>
              <a:rect l="l" t="t" r="r" b="b"/>
              <a:pathLst>
                <a:path w="24383391" h="640080">
                  <a:moveTo>
                    <a:pt x="0" y="0"/>
                  </a:moveTo>
                  <a:lnTo>
                    <a:pt x="24383391" y="0"/>
                  </a:lnTo>
                  <a:lnTo>
                    <a:pt x="243833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92268" b="-69226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"/>
              <a:ext cx="2438339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340"/>
                </a:lnSpc>
                <a:spcBef>
                  <a:spcPct val="0"/>
                </a:spcBef>
              </a:pPr>
              <a:r>
                <a:rPr lang="en-US" sz="1950" b="1" u="none" strike="noStrik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게임 요소만으로 효과가 커지지는 않기에(Six et al., 2021), 오목이는 치료 효과가 아닌 재방문과 온기우편함 연결로 검증합니다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8971" y="384048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070"/>
                </a:lnSpc>
                <a:spcBef>
                  <a:spcPct val="0"/>
                </a:spcBef>
              </a:pPr>
              <a:r>
                <a:rPr lang="en-US" sz="1725" b="1" u="none" strike="noStrike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COMPETITION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800" y="1165860"/>
            <a:ext cx="16915943" cy="1666052"/>
            <a:chOff x="0" y="0"/>
            <a:chExt cx="22554590" cy="22214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554591" cy="2221403"/>
            </a:xfrm>
            <a:custGeom>
              <a:avLst/>
              <a:gdLst/>
              <a:ahLst/>
              <a:cxnLst/>
              <a:rect l="l" t="t" r="r" b="b"/>
              <a:pathLst>
                <a:path w="22554591" h="2221403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441" b="-14723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기존 서비스의 종착점은 앱 안,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우리의 종착점은 실제 손편지</a:t>
              </a: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입니다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62100" y="3086100"/>
            <a:ext cx="15163800" cy="411480"/>
            <a:chOff x="0" y="0"/>
            <a:chExt cx="2021840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18400" cy="548640"/>
            </a:xfrm>
            <a:custGeom>
              <a:avLst/>
              <a:gdLst/>
              <a:ahLst/>
              <a:cxnLst/>
              <a:rect l="l" t="t" r="r" b="b"/>
              <a:pathLst>
                <a:path w="20218400" h="548640">
                  <a:moveTo>
                    <a:pt x="0" y="0"/>
                  </a:moveTo>
                  <a:lnTo>
                    <a:pt x="20218400" y="0"/>
                  </a:lnTo>
                  <a:lnTo>
                    <a:pt x="2021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r="45728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02184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800" u="none" strike="noStrik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각 서비스가 따로 가진 기능을 한곳에 모았습니다   ○ 있음 · △ 일부·유료 · × 없음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960" y="9683496"/>
            <a:ext cx="14401800" cy="356616"/>
            <a:chOff x="0" y="0"/>
            <a:chExt cx="19202400" cy="475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2400" cy="475488"/>
            </a:xfrm>
            <a:custGeom>
              <a:avLst/>
              <a:gdLst/>
              <a:ahLst/>
              <a:cxnLst/>
              <a:rect l="l" t="t" r="r" b="b"/>
              <a:pathLst>
                <a:path w="19202400" h="475488">
                  <a:moveTo>
                    <a:pt x="0" y="0"/>
                  </a:moveTo>
                  <a:lnTo>
                    <a:pt x="19202400" y="0"/>
                  </a:lnTo>
                  <a:lnTo>
                    <a:pt x="19202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6895" b="-73689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9202400" cy="485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출처: 각 서비스 공식 홈페이지·앱 마켓 소개 (2026.10 기준)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62100" y="3619500"/>
            <a:ext cx="15163800" cy="5200650"/>
            <a:chOff x="0" y="0"/>
            <a:chExt cx="20218400" cy="6934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18400" cy="6934200"/>
            </a:xfrm>
            <a:custGeom>
              <a:avLst/>
              <a:gdLst/>
              <a:ahLst/>
              <a:cxnLst/>
              <a:rect l="l" t="t" r="r" b="b"/>
              <a:pathLst>
                <a:path w="20218400" h="6934200">
                  <a:moveTo>
                    <a:pt x="304800" y="0"/>
                  </a:moveTo>
                  <a:lnTo>
                    <a:pt x="19913600" y="0"/>
                  </a:lnTo>
                  <a:cubicBezTo>
                    <a:pt x="20081937" y="0"/>
                    <a:pt x="20218400" y="136464"/>
                    <a:pt x="20218400" y="304800"/>
                  </a:cubicBezTo>
                  <a:lnTo>
                    <a:pt x="20218400" y="6629400"/>
                  </a:lnTo>
                  <a:cubicBezTo>
                    <a:pt x="20218400" y="6797736"/>
                    <a:pt x="20081937" y="6934200"/>
                    <a:pt x="19913600" y="6934200"/>
                  </a:cubicBezTo>
                  <a:lnTo>
                    <a:pt x="304800" y="6934200"/>
                  </a:lnTo>
                  <a:cubicBezTo>
                    <a:pt x="136464" y="6934200"/>
                    <a:pt x="0" y="6797736"/>
                    <a:pt x="0" y="66294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18400" cy="697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07540" y="3619500"/>
            <a:ext cx="2118360" cy="5200650"/>
            <a:chOff x="0" y="0"/>
            <a:chExt cx="2824480" cy="6934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24480" cy="6934200"/>
            </a:xfrm>
            <a:custGeom>
              <a:avLst/>
              <a:gdLst/>
              <a:ahLst/>
              <a:cxnLst/>
              <a:rect l="l" t="t" r="r" b="b"/>
              <a:pathLst>
                <a:path w="2824480" h="6934200">
                  <a:moveTo>
                    <a:pt x="0" y="0"/>
                  </a:moveTo>
                  <a:lnTo>
                    <a:pt x="2519680" y="0"/>
                  </a:lnTo>
                  <a:cubicBezTo>
                    <a:pt x="2688016" y="0"/>
                    <a:pt x="2824480" y="136464"/>
                    <a:pt x="2824480" y="304800"/>
                  </a:cubicBezTo>
                  <a:lnTo>
                    <a:pt x="2824480" y="6629400"/>
                  </a:lnTo>
                  <a:cubicBezTo>
                    <a:pt x="2824480" y="6797736"/>
                    <a:pt x="2688016" y="6934200"/>
                    <a:pt x="2519680" y="6934200"/>
                  </a:cubicBezTo>
                  <a:lnTo>
                    <a:pt x="0" y="6934200"/>
                  </a:lnTo>
                  <a:close/>
                </a:path>
              </a:pathLst>
            </a:custGeom>
            <a:solidFill>
              <a:srgbClr val="FFF4D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824480" cy="697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607540" y="3619500"/>
            <a:ext cx="2118360" cy="666750"/>
            <a:chOff x="0" y="0"/>
            <a:chExt cx="2824480" cy="889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24480" cy="889000"/>
            </a:xfrm>
            <a:custGeom>
              <a:avLst/>
              <a:gdLst/>
              <a:ahLst/>
              <a:cxnLst/>
              <a:rect l="l" t="t" r="r" b="b"/>
              <a:pathLst>
                <a:path w="2824480" h="889000">
                  <a:moveTo>
                    <a:pt x="0" y="0"/>
                  </a:moveTo>
                  <a:lnTo>
                    <a:pt x="2519680" y="0"/>
                  </a:lnTo>
                  <a:cubicBezTo>
                    <a:pt x="2688016" y="0"/>
                    <a:pt x="2824480" y="136464"/>
                    <a:pt x="2824480" y="304800"/>
                  </a:cubicBezTo>
                  <a:lnTo>
                    <a:pt x="282448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F5C83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82448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90700" y="4279106"/>
            <a:ext cx="14706600" cy="14288"/>
            <a:chOff x="0" y="0"/>
            <a:chExt cx="19608800" cy="19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608800" cy="19050"/>
            </a:xfrm>
            <a:custGeom>
              <a:avLst/>
              <a:gdLst/>
              <a:ahLst/>
              <a:cxnLst/>
              <a:rect l="l" t="t" r="r" b="b"/>
              <a:pathLst>
                <a:path w="19608800" h="1905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790700" y="4926806"/>
            <a:ext cx="14706600" cy="14288"/>
            <a:chOff x="0" y="0"/>
            <a:chExt cx="19608800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608800" cy="19050"/>
            </a:xfrm>
            <a:custGeom>
              <a:avLst/>
              <a:gdLst/>
              <a:ahLst/>
              <a:cxnLst/>
              <a:rect l="l" t="t" r="r" b="b"/>
              <a:pathLst>
                <a:path w="19608800" h="1905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90700" y="5574506"/>
            <a:ext cx="14706600" cy="14288"/>
            <a:chOff x="0" y="0"/>
            <a:chExt cx="19608800" cy="190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608800" cy="19050"/>
            </a:xfrm>
            <a:custGeom>
              <a:avLst/>
              <a:gdLst/>
              <a:ahLst/>
              <a:cxnLst/>
              <a:rect l="l" t="t" r="r" b="b"/>
              <a:pathLst>
                <a:path w="19608800" h="1905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90700" y="6222206"/>
            <a:ext cx="14706600" cy="14288"/>
            <a:chOff x="0" y="0"/>
            <a:chExt cx="19608800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608800" cy="19050"/>
            </a:xfrm>
            <a:custGeom>
              <a:avLst/>
              <a:gdLst/>
              <a:ahLst/>
              <a:cxnLst/>
              <a:rect l="l" t="t" r="r" b="b"/>
              <a:pathLst>
                <a:path w="19608800" h="1905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90700" y="6869906"/>
            <a:ext cx="14706600" cy="14288"/>
            <a:chOff x="0" y="0"/>
            <a:chExt cx="19608800" cy="190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608800" cy="19050"/>
            </a:xfrm>
            <a:custGeom>
              <a:avLst/>
              <a:gdLst/>
              <a:ahLst/>
              <a:cxnLst/>
              <a:rect l="l" t="t" r="r" b="b"/>
              <a:pathLst>
                <a:path w="19608800" h="1905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790700" y="7517606"/>
            <a:ext cx="14706600" cy="14288"/>
            <a:chOff x="0" y="0"/>
            <a:chExt cx="19608800" cy="190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608800" cy="19050"/>
            </a:xfrm>
            <a:custGeom>
              <a:avLst/>
              <a:gdLst/>
              <a:ahLst/>
              <a:cxnLst/>
              <a:rect l="l" t="t" r="r" b="b"/>
              <a:pathLst>
                <a:path w="19608800" h="1905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790700" y="8165306"/>
            <a:ext cx="14706600" cy="14288"/>
            <a:chOff x="0" y="0"/>
            <a:chExt cx="19608800" cy="1905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9608800" cy="19050"/>
            </a:xfrm>
            <a:custGeom>
              <a:avLst/>
              <a:gdLst/>
              <a:ahLst/>
              <a:cxnLst/>
              <a:rect l="l" t="t" r="r" b="b"/>
              <a:pathLst>
                <a:path w="19608800" h="1905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6134100" y="3752850"/>
            <a:ext cx="211836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온기우편함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52460" y="3752850"/>
            <a:ext cx="211836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마인드카페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370820" y="3752850"/>
            <a:ext cx="211836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트로스트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489180" y="3752850"/>
            <a:ext cx="211836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0"/>
              </a:lnSpc>
              <a:spcBef>
                <a:spcPct val="0"/>
              </a:spcBef>
            </a:pPr>
            <a:r>
              <a:rPr lang="en-US" sz="1650" b="1" u="none" strike="noStrik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썸원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607540" y="3752850"/>
            <a:ext cx="211836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On Letter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905000" y="4410075"/>
            <a:ext cx="4191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쓰지 않고 고르는 마음 질문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134100" y="44196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 직접 작성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252460" y="44196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심리검사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370820" y="44196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심리검사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489180" y="44196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  <a:spcBef>
                <a:spcPct val="0"/>
              </a:spcBef>
            </a:pPr>
            <a:r>
              <a:rPr lang="en-US" sz="1575" u="none" strike="noStrike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 글로 답함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607540" y="44196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6문항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905000" y="5057775"/>
            <a:ext cx="4191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실제 사람이 쓴 손편지 위로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134100" y="50673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3~4주 대기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252460" y="50673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370820" y="50673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489180" y="50673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607540" y="50673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바로 도착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905000" y="5705475"/>
            <a:ext cx="4191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캐릭터 성장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134100" y="57150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252460" y="57150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370820" y="57150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489180" y="57150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  <a:spcBef>
                <a:spcPct val="0"/>
              </a:spcBef>
            </a:pPr>
            <a:r>
              <a:rPr lang="en-US" sz="1575" u="none" strike="noStrike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에그몬 키우기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4607540" y="57150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오목이 키우기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905000" y="6353175"/>
            <a:ext cx="4191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하루 작은 미션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134100" y="63627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252460" y="63627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370820" y="63627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기록 루틴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489180" y="63627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  <a:spcBef>
                <a:spcPct val="0"/>
              </a:spcBef>
            </a:pPr>
            <a:r>
              <a:rPr lang="en-US" sz="1575" u="none" strike="noStrike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매일 질문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4607540" y="63627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1일 1미션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905000" y="7000875"/>
            <a:ext cx="4191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AI 대화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134100" y="70104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252460" y="70104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챗봇 검사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370820" y="70104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챗봇 티티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489180" y="70104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607540" y="70104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  <a:spcBef>
                <a:spcPct val="0"/>
              </a:spcBef>
            </a:pPr>
            <a:r>
              <a:rPr lang="en-US" sz="1575" b="1" u="none" strike="noStrik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오목이 대화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905000" y="7648575"/>
            <a:ext cx="4191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실제 손편지로 연결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134100" y="76581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252460" y="76581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370820" y="76581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2489180" y="76581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4607540" y="76581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온기우편함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905000" y="8296275"/>
            <a:ext cx="4191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핵심 기능 무료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134100" y="83058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252460" y="83058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상담 유료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370820" y="83058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상담 유료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2489180" y="83058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  <a:spcBef>
                <a:spcPct val="0"/>
              </a:spcBef>
            </a:pPr>
            <a:r>
              <a:rPr lang="en-US" sz="1575" u="none" strike="noStrike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광고·멤버십 유료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4607540" y="8305800"/>
            <a:ext cx="211836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1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562100" y="8905875"/>
            <a:ext cx="151638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7A6A55"/>
                </a:solidFill>
                <a:latin typeface="Arimo"/>
                <a:ea typeface="Arimo"/>
                <a:cs typeface="Arimo"/>
                <a:sym typeface="Arimo"/>
              </a:rPr>
              <a:t>※ 전문 상담·진단은 하지 않고, 필요할 때 전문기관(109 등)으로 연결합니다</a:t>
            </a:r>
          </a:p>
        </p:txBody>
      </p:sp>
      <p:grpSp>
        <p:nvGrpSpPr>
          <p:cNvPr id="99" name="Group 99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16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8971" y="384048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GOAL &amp; KPI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17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1165860"/>
            <a:ext cx="16915943" cy="1666052"/>
            <a:chOff x="0" y="0"/>
            <a:chExt cx="22554590" cy="22214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54591" cy="2221403"/>
            </a:xfrm>
            <a:custGeom>
              <a:avLst/>
              <a:gdLst/>
              <a:ahLst/>
              <a:cxnLst/>
              <a:rect l="l" t="t" r="r" b="b"/>
              <a:pathLst>
                <a:path w="22554591" h="2221403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441" b="-14723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최종 목표는 앱 체류가 아닌,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1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일상 속 위로와 회복</a:t>
              </a:r>
              <a:r>
                <a:rPr lang="en-US" sz="45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입니다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00" y="3086100"/>
            <a:ext cx="15544343" cy="1165860"/>
            <a:chOff x="0" y="0"/>
            <a:chExt cx="20725790" cy="15544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725766" cy="1554480"/>
            </a:xfrm>
            <a:custGeom>
              <a:avLst/>
              <a:gdLst/>
              <a:ahLst/>
              <a:cxnLst/>
              <a:rect l="l" t="t" r="r" b="b"/>
              <a:pathLst>
                <a:path w="20725766" h="155448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0360005" y="0"/>
                  </a:lnTo>
                  <a:cubicBezTo>
                    <a:pt x="20562063" y="0"/>
                    <a:pt x="20725766" y="163703"/>
                    <a:pt x="20725766" y="365760"/>
                  </a:cubicBezTo>
                  <a:lnTo>
                    <a:pt x="20725766" y="1188720"/>
                  </a:lnTo>
                  <a:cubicBezTo>
                    <a:pt x="20725766" y="1390777"/>
                    <a:pt x="20562063" y="1554480"/>
                    <a:pt x="20360005" y="1554480"/>
                  </a:cubicBezTo>
                  <a:lnTo>
                    <a:pt x="365760" y="1554480"/>
                  </a:lnTo>
                  <a:cubicBezTo>
                    <a:pt x="163703" y="1554480"/>
                    <a:pt x="0" y="1390777"/>
                    <a:pt x="0" y="118872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83080" y="3086100"/>
            <a:ext cx="15032736" cy="1165860"/>
            <a:chOff x="0" y="0"/>
            <a:chExt cx="20043647" cy="15544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628510" cy="1554480"/>
            </a:xfrm>
            <a:custGeom>
              <a:avLst/>
              <a:gdLst/>
              <a:ahLst/>
              <a:cxnLst/>
              <a:rect l="l" t="t" r="r" b="b"/>
              <a:pathLst>
                <a:path w="19628510" h="1554480">
                  <a:moveTo>
                    <a:pt x="0" y="0"/>
                  </a:moveTo>
                  <a:lnTo>
                    <a:pt x="19628510" y="0"/>
                  </a:lnTo>
                  <a:lnTo>
                    <a:pt x="1962851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038" b="-1960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043647" cy="1554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20~34세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청년이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부담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없이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마음을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확인하고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,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실제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편지를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반복해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경험한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뒤,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자신의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고민을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손편지로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꺼내도록</a:t>
              </a:r>
              <a:r>
                <a:rPr lang="en-US" sz="2100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2100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연결합니다</a:t>
              </a:r>
              <a:endParaRPr lang="en-US" sz="2100" b="1" dirty="0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1600" y="4732020"/>
            <a:ext cx="3593592" cy="4251960"/>
            <a:chOff x="0" y="0"/>
            <a:chExt cx="4791456" cy="5669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91456" cy="5669280"/>
            </a:xfrm>
            <a:custGeom>
              <a:avLst/>
              <a:gdLst/>
              <a:ahLst/>
              <a:cxnLst/>
              <a:rect l="l" t="t" r="r" b="b"/>
              <a:pathLst>
                <a:path w="4791456" h="566928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685393" y="5006340"/>
            <a:ext cx="965997" cy="1165860"/>
            <a:chOff x="0" y="0"/>
            <a:chExt cx="1287996" cy="1554480"/>
          </a:xfrm>
        </p:grpSpPr>
        <p:sp>
          <p:nvSpPr>
            <p:cNvPr id="20" name="Freeform 20" descr="/home/claude/thumb/ch/A07.png"/>
            <p:cNvSpPr/>
            <p:nvPr/>
          </p:nvSpPr>
          <p:spPr>
            <a:xfrm>
              <a:off x="0" y="0"/>
              <a:ext cx="1288034" cy="1554480"/>
            </a:xfrm>
            <a:custGeom>
              <a:avLst/>
              <a:gdLst/>
              <a:ahLst/>
              <a:cxnLst/>
              <a:rect l="l" t="t" r="r" b="b"/>
              <a:pathLst>
                <a:path w="1288034" h="1554480">
                  <a:moveTo>
                    <a:pt x="0" y="0"/>
                  </a:moveTo>
                  <a:lnTo>
                    <a:pt x="1288034" y="0"/>
                  </a:lnTo>
                  <a:lnTo>
                    <a:pt x="1288034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71600" y="6309360"/>
            <a:ext cx="3593592" cy="548640"/>
            <a:chOff x="0" y="0"/>
            <a:chExt cx="4791456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유입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08760" y="6924675"/>
            <a:ext cx="3319272" cy="891540"/>
            <a:chOff x="0" y="0"/>
            <a:chExt cx="4425696" cy="11887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25696" cy="1188720"/>
            </a:xfrm>
            <a:custGeom>
              <a:avLst/>
              <a:gdLst/>
              <a:ahLst/>
              <a:cxnLst/>
              <a:rect l="l" t="t" r="r" b="b"/>
              <a:pathLst>
                <a:path w="4425696" h="1188720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544" b="-22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2030 청년들의 유입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39696" y="8325612"/>
            <a:ext cx="2057400" cy="466344"/>
            <a:chOff x="0" y="0"/>
            <a:chExt cx="2743200" cy="6217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37760" y="6240780"/>
            <a:ext cx="411480" cy="822960"/>
            <a:chOff x="0" y="0"/>
            <a:chExt cx="548640" cy="1097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8640" cy="1097280"/>
            </a:xfrm>
            <a:custGeom>
              <a:avLst/>
              <a:gdLst/>
              <a:ahLst/>
              <a:cxnLst/>
              <a:rect l="l" t="t" r="r" b="b"/>
              <a:pathLst>
                <a:path w="548640" h="1097280">
                  <a:moveTo>
                    <a:pt x="0" y="0"/>
                  </a:moveTo>
                  <a:lnTo>
                    <a:pt x="548640" y="0"/>
                  </a:lnTo>
                  <a:lnTo>
                    <a:pt x="548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607" r="-2066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48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21808" y="4732020"/>
            <a:ext cx="3593592" cy="4251960"/>
            <a:chOff x="0" y="0"/>
            <a:chExt cx="4791456" cy="5669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91456" cy="5669280"/>
            </a:xfrm>
            <a:custGeom>
              <a:avLst/>
              <a:gdLst/>
              <a:ahLst/>
              <a:cxnLst/>
              <a:rect l="l" t="t" r="r" b="b"/>
              <a:pathLst>
                <a:path w="4791456" h="566928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98822" y="5006340"/>
            <a:ext cx="1239564" cy="1165860"/>
            <a:chOff x="0" y="0"/>
            <a:chExt cx="1652753" cy="1554480"/>
          </a:xfrm>
        </p:grpSpPr>
        <p:sp>
          <p:nvSpPr>
            <p:cNvPr id="35" name="Freeform 35" descr="/home/claude/thumb/ch/A13.png"/>
            <p:cNvSpPr/>
            <p:nvPr/>
          </p:nvSpPr>
          <p:spPr>
            <a:xfrm>
              <a:off x="0" y="0"/>
              <a:ext cx="1652778" cy="1554480"/>
            </a:xfrm>
            <a:custGeom>
              <a:avLst/>
              <a:gdLst/>
              <a:ahLst/>
              <a:cxnLst/>
              <a:rect l="l" t="t" r="r" b="b"/>
              <a:pathLst>
                <a:path w="1652778" h="1554480">
                  <a:moveTo>
                    <a:pt x="0" y="0"/>
                  </a:moveTo>
                  <a:lnTo>
                    <a:pt x="1652778" y="0"/>
                  </a:lnTo>
                  <a:lnTo>
                    <a:pt x="1652778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21808" y="6309360"/>
            <a:ext cx="3593592" cy="548640"/>
            <a:chOff x="0" y="0"/>
            <a:chExt cx="4791456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공감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458968" y="6991350"/>
            <a:ext cx="3319272" cy="891540"/>
            <a:chOff x="0" y="0"/>
            <a:chExt cx="4425696" cy="11887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25696" cy="1188720"/>
            </a:xfrm>
            <a:custGeom>
              <a:avLst/>
              <a:gdLst/>
              <a:ahLst/>
              <a:cxnLst/>
              <a:rect l="l" t="t" r="r" b="b"/>
              <a:pathLst>
                <a:path w="4425696" h="1188720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544" b="-22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일상 속 고민에 대한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공감 형성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89904" y="8325612"/>
            <a:ext cx="2057400" cy="466344"/>
            <a:chOff x="0" y="0"/>
            <a:chExt cx="2743200" cy="6217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89904" y="8325612"/>
            <a:ext cx="2057400" cy="466344"/>
            <a:chOff x="0" y="0"/>
            <a:chExt cx="2743200" cy="6217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편지 열람률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887968" y="6240780"/>
            <a:ext cx="411480" cy="822960"/>
            <a:chOff x="0" y="0"/>
            <a:chExt cx="548640" cy="10972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8640" cy="1097280"/>
            </a:xfrm>
            <a:custGeom>
              <a:avLst/>
              <a:gdLst/>
              <a:ahLst/>
              <a:cxnLst/>
              <a:rect l="l" t="t" r="r" b="b"/>
              <a:pathLst>
                <a:path w="548640" h="1097280">
                  <a:moveTo>
                    <a:pt x="0" y="0"/>
                  </a:moveTo>
                  <a:lnTo>
                    <a:pt x="548640" y="0"/>
                  </a:lnTo>
                  <a:lnTo>
                    <a:pt x="548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607" r="-2066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548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272016" y="4732020"/>
            <a:ext cx="3593592" cy="4251960"/>
            <a:chOff x="0" y="0"/>
            <a:chExt cx="4791456" cy="56692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791456" cy="5669280"/>
            </a:xfrm>
            <a:custGeom>
              <a:avLst/>
              <a:gdLst/>
              <a:ahLst/>
              <a:cxnLst/>
              <a:rect l="l" t="t" r="r" b="b"/>
              <a:pathLst>
                <a:path w="4791456" h="566928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10047" y="5006340"/>
            <a:ext cx="1117530" cy="1165860"/>
            <a:chOff x="0" y="0"/>
            <a:chExt cx="1490040" cy="1554480"/>
          </a:xfrm>
        </p:grpSpPr>
        <p:sp>
          <p:nvSpPr>
            <p:cNvPr id="53" name="Freeform 53" descr="/home/claude/thumb/ch/A19.png"/>
            <p:cNvSpPr/>
            <p:nvPr/>
          </p:nvSpPr>
          <p:spPr>
            <a:xfrm>
              <a:off x="0" y="0"/>
              <a:ext cx="1490091" cy="1554480"/>
            </a:xfrm>
            <a:custGeom>
              <a:avLst/>
              <a:gdLst/>
              <a:ahLst/>
              <a:cxnLst/>
              <a:rect l="l" t="t" r="r" b="b"/>
              <a:pathLst>
                <a:path w="1490091" h="1554480">
                  <a:moveTo>
                    <a:pt x="0" y="0"/>
                  </a:moveTo>
                  <a:lnTo>
                    <a:pt x="1490091" y="0"/>
                  </a:lnTo>
                  <a:lnTo>
                    <a:pt x="1490091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272016" y="6309360"/>
            <a:ext cx="3593592" cy="548640"/>
            <a:chOff x="0" y="0"/>
            <a:chExt cx="4791456" cy="7315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재방문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413748" y="6991350"/>
            <a:ext cx="3319272" cy="891540"/>
            <a:chOff x="0" y="0"/>
            <a:chExt cx="4425696" cy="11887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425696" cy="1188720"/>
            </a:xfrm>
            <a:custGeom>
              <a:avLst/>
              <a:gdLst/>
              <a:ahLst/>
              <a:cxnLst/>
              <a:rect l="l" t="t" r="r" b="b"/>
              <a:pathLst>
                <a:path w="4425696" h="1188720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544" b="-225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4425696" cy="1188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69"/>
                </a:lnSpc>
              </a:pPr>
              <a:r>
                <a:rPr lang="en-US" sz="2224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위로 손편지 열람과</a:t>
              </a:r>
            </a:p>
            <a:p>
              <a:pPr algn="ctr">
                <a:lnSpc>
                  <a:spcPts val="2669"/>
                </a:lnSpc>
              </a:pPr>
              <a:r>
                <a:rPr lang="en-US" sz="2224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일일 미션을 위한 재방문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040112" y="8325612"/>
            <a:ext cx="2057400" cy="466344"/>
            <a:chOff x="0" y="0"/>
            <a:chExt cx="2743200" cy="62179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040112" y="8325612"/>
            <a:ext cx="2057400" cy="466344"/>
            <a:chOff x="0" y="0"/>
            <a:chExt cx="2743200" cy="6217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D7 재방문율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838176" y="6240780"/>
            <a:ext cx="411480" cy="822960"/>
            <a:chOff x="0" y="0"/>
            <a:chExt cx="548640" cy="10972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48640" cy="1097280"/>
            </a:xfrm>
            <a:custGeom>
              <a:avLst/>
              <a:gdLst/>
              <a:ahLst/>
              <a:cxnLst/>
              <a:rect l="l" t="t" r="r" b="b"/>
              <a:pathLst>
                <a:path w="548640" h="1097280">
                  <a:moveTo>
                    <a:pt x="0" y="0"/>
                  </a:moveTo>
                  <a:lnTo>
                    <a:pt x="548640" y="0"/>
                  </a:lnTo>
                  <a:lnTo>
                    <a:pt x="548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607" r="-2066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548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222224" y="4732020"/>
            <a:ext cx="3593592" cy="4251960"/>
            <a:chOff x="0" y="0"/>
            <a:chExt cx="4791456" cy="56692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791456" cy="5669280"/>
            </a:xfrm>
            <a:custGeom>
              <a:avLst/>
              <a:gdLst/>
              <a:ahLst/>
              <a:cxnLst/>
              <a:rect l="l" t="t" r="r" b="b"/>
              <a:pathLst>
                <a:path w="4791456" h="566928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5C83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603997" y="5006340"/>
            <a:ext cx="830037" cy="1165860"/>
            <a:chOff x="0" y="0"/>
            <a:chExt cx="1106716" cy="1554480"/>
          </a:xfrm>
        </p:grpSpPr>
        <p:sp>
          <p:nvSpPr>
            <p:cNvPr id="71" name="Freeform 71" descr="/home/claude/thumb/ch/sB12.png"/>
            <p:cNvSpPr/>
            <p:nvPr/>
          </p:nvSpPr>
          <p:spPr>
            <a:xfrm>
              <a:off x="0" y="0"/>
              <a:ext cx="1106678" cy="1554480"/>
            </a:xfrm>
            <a:custGeom>
              <a:avLst/>
              <a:gdLst/>
              <a:ahLst/>
              <a:cxnLst/>
              <a:rect l="l" t="t" r="r" b="b"/>
              <a:pathLst>
                <a:path w="1106678" h="1554480">
                  <a:moveTo>
                    <a:pt x="0" y="0"/>
                  </a:moveTo>
                  <a:lnTo>
                    <a:pt x="1106678" y="0"/>
                  </a:lnTo>
                  <a:lnTo>
                    <a:pt x="1106678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222224" y="6309360"/>
            <a:ext cx="3593592" cy="548640"/>
            <a:chOff x="0" y="0"/>
            <a:chExt cx="4791456" cy="7315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791456" cy="731520"/>
            </a:xfrm>
            <a:custGeom>
              <a:avLst/>
              <a:gdLst/>
              <a:ahLst/>
              <a:cxnLst/>
              <a:rect l="l" t="t" r="r" b="b"/>
              <a:pathLst>
                <a:path w="4791456" h="731520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627" b="-776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최종 전환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359384" y="6984206"/>
            <a:ext cx="3456432" cy="952849"/>
            <a:chOff x="0" y="-9525"/>
            <a:chExt cx="4608576" cy="127046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425696" cy="1260940"/>
            </a:xfrm>
            <a:custGeom>
              <a:avLst/>
              <a:gdLst/>
              <a:ahLst/>
              <a:cxnLst/>
              <a:rect l="l" t="t" r="r" b="b"/>
              <a:pathLst>
                <a:path w="4425696" h="1260940">
                  <a:moveTo>
                    <a:pt x="0" y="0"/>
                  </a:moveTo>
                  <a:lnTo>
                    <a:pt x="4425696" y="0"/>
                  </a:lnTo>
                  <a:lnTo>
                    <a:pt x="4425696" y="1260940"/>
                  </a:lnTo>
                  <a:lnTo>
                    <a:pt x="0" y="1260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253" b="-155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"/>
              <a:ext cx="4608576" cy="1270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15606" lvl="1" indent="-207803" algn="l">
                <a:lnSpc>
                  <a:spcPts val="2309"/>
                </a:lnSpc>
                <a:buFont typeface="Arial"/>
                <a:buChar char="•"/>
              </a:pP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일상</a:t>
              </a:r>
              <a:r>
                <a:rPr lang="en-US" sz="1924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고민</a:t>
              </a:r>
              <a:r>
                <a:rPr lang="en-US" sz="1924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→ </a:t>
              </a: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위로</a:t>
              </a:r>
              <a:endParaRPr lang="en-US" sz="1924" b="1" dirty="0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  <a:p>
              <a:pPr marL="415606" lvl="1" indent="-207803" algn="l">
                <a:lnSpc>
                  <a:spcPts val="2309"/>
                </a:lnSpc>
                <a:buFont typeface="Arial"/>
                <a:buChar char="•"/>
              </a:pP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깊은</a:t>
              </a:r>
              <a:r>
                <a:rPr lang="en-US" sz="1924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고민</a:t>
              </a:r>
              <a:r>
                <a:rPr lang="en-US" sz="1924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→ </a:t>
              </a: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온기우편함</a:t>
              </a:r>
              <a:endParaRPr lang="en-US" sz="1924" b="1" dirty="0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  <a:p>
              <a:pPr marL="415606" lvl="1" indent="-207803" algn="l">
                <a:lnSpc>
                  <a:spcPts val="2309"/>
                </a:lnSpc>
                <a:buFont typeface="Arial"/>
                <a:buChar char="•"/>
              </a:pP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고위험군</a:t>
              </a:r>
              <a:r>
                <a:rPr lang="en-US" sz="1924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→ </a:t>
              </a: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전문</a:t>
              </a:r>
              <a:r>
                <a:rPr lang="en-US" sz="1924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</a:t>
              </a:r>
              <a:r>
                <a:rPr lang="en-US" sz="1924" b="1" dirty="0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924" b="1" dirty="0" err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센터</a:t>
              </a:r>
              <a:endParaRPr lang="en-US" sz="1924" b="1" dirty="0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3990320" y="8325612"/>
            <a:ext cx="2057400" cy="466344"/>
            <a:chOff x="0" y="0"/>
            <a:chExt cx="2743200" cy="62179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F2A2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990320" y="8325612"/>
            <a:ext cx="2057400" cy="466344"/>
            <a:chOff x="0" y="0"/>
            <a:chExt cx="2743200" cy="6217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22960" y="384048"/>
            <a:ext cx="4114800" cy="411480"/>
            <a:chOff x="0" y="0"/>
            <a:chExt cx="5486400" cy="54864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3990320" y="8325612"/>
            <a:ext cx="2057400" cy="466344"/>
            <a:chOff x="0" y="0"/>
            <a:chExt cx="2743200" cy="6217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>
                  <a:solidFill>
                    <a:srgbClr val="F5C8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손편지 전환율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2139691" y="8305800"/>
            <a:ext cx="2057400" cy="466344"/>
            <a:chOff x="0" y="0"/>
            <a:chExt cx="2743200" cy="62179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63" b="-359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889"/>
                </a:lnSpc>
                <a:spcBef>
                  <a:spcPct val="0"/>
                </a:spcBef>
              </a:pPr>
              <a:r>
                <a:rPr lang="en-US" sz="1575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질문 시작률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4648200" y="5628211"/>
            <a:ext cx="9285451" cy="1255030"/>
            <a:chOff x="0" y="-576094"/>
            <a:chExt cx="12380601" cy="16733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51225" cy="1097280"/>
            </a:xfrm>
            <a:custGeom>
              <a:avLst/>
              <a:gdLst/>
              <a:ahLst/>
              <a:cxnLst/>
              <a:rect l="l" t="t" r="r" b="b"/>
              <a:pathLst>
                <a:path w="11051225" h="1097280">
                  <a:moveTo>
                    <a:pt x="0" y="0"/>
                  </a:moveTo>
                  <a:lnTo>
                    <a:pt x="11051225" y="0"/>
                  </a:lnTo>
                  <a:lnTo>
                    <a:pt x="11051225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r="-32387" b="-2098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6094"/>
              <a:ext cx="12380601" cy="1202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4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꺼내지</a:t>
              </a:r>
              <a:r>
                <a:rPr lang="en-US" sz="16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4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못한</a:t>
              </a:r>
              <a:r>
                <a:rPr lang="en-US" sz="16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4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마음에</a:t>
              </a:r>
              <a:r>
                <a:rPr lang="en-US" sz="44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,</a:t>
              </a:r>
              <a:r>
                <a:rPr lang="en-US" sz="16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4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위로가</a:t>
              </a:r>
              <a:r>
                <a:rPr lang="en-US" sz="16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4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먼저</a:t>
              </a:r>
              <a:r>
                <a:rPr lang="en-US" sz="1600" dirty="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</a:t>
              </a:r>
              <a:r>
                <a:rPr lang="en-US" sz="4400" dirty="0" err="1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닿습니다</a:t>
              </a:r>
              <a:endParaRPr lang="en-US" sz="4400" dirty="0">
                <a:solidFill>
                  <a:srgbClr val="4A3520"/>
                </a:solidFill>
                <a:latin typeface="Jua"/>
                <a:ea typeface="Jua"/>
                <a:cs typeface="Jua"/>
                <a:sym typeface="Jua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03020" y="8023860"/>
            <a:ext cx="1371600" cy="1371600"/>
            <a:chOff x="0" y="0"/>
            <a:chExt cx="1828800" cy="1828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1316736" y="0"/>
                  </a:lnTo>
                  <a:cubicBezTo>
                    <a:pt x="1599565" y="0"/>
                    <a:pt x="1828800" y="229235"/>
                    <a:pt x="1828800" y="512064"/>
                  </a:cubicBezTo>
                  <a:lnTo>
                    <a:pt x="1828800" y="1316736"/>
                  </a:lnTo>
                  <a:cubicBezTo>
                    <a:pt x="1828800" y="1599565"/>
                    <a:pt x="1599565" y="1828800"/>
                    <a:pt x="1316736" y="1828800"/>
                  </a:cubicBezTo>
                  <a:lnTo>
                    <a:pt x="512064" y="1828800"/>
                  </a:lnTo>
                  <a:cubicBezTo>
                    <a:pt x="229235" y="1828800"/>
                    <a:pt x="0" y="1599565"/>
                    <a:pt x="0" y="1316736"/>
                  </a:cubicBezTo>
                  <a:close/>
                </a:path>
              </a:pathLst>
            </a:custGeom>
            <a:solidFill>
              <a:srgbClr val="F5C83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612" y="8202168"/>
            <a:ext cx="1076411" cy="1042416"/>
            <a:chOff x="0" y="0"/>
            <a:chExt cx="1435214" cy="1389888"/>
          </a:xfrm>
        </p:grpSpPr>
        <p:sp>
          <p:nvSpPr>
            <p:cNvPr id="9" name="Freeform 9" descr="/home/claude/thumb/ch/A05.png"/>
            <p:cNvSpPr/>
            <p:nvPr/>
          </p:nvSpPr>
          <p:spPr>
            <a:xfrm>
              <a:off x="0" y="0"/>
              <a:ext cx="1435227" cy="1389888"/>
            </a:xfrm>
            <a:custGeom>
              <a:avLst/>
              <a:gdLst/>
              <a:ahLst/>
              <a:cxnLst/>
              <a:rect l="l" t="t" r="r" b="b"/>
              <a:pathLst>
                <a:path w="1435227" h="1389888">
                  <a:moveTo>
                    <a:pt x="0" y="0"/>
                  </a:moveTo>
                  <a:lnTo>
                    <a:pt x="1435227" y="0"/>
                  </a:lnTo>
                  <a:lnTo>
                    <a:pt x="1435227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48940" y="8161020"/>
            <a:ext cx="5486400" cy="834138"/>
            <a:chOff x="0" y="0"/>
            <a:chExt cx="7315200" cy="11121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5200" cy="1112183"/>
            </a:xfrm>
            <a:custGeom>
              <a:avLst/>
              <a:gdLst/>
              <a:ahLst/>
              <a:cxnLst/>
              <a:rect l="l" t="t" r="r" b="b"/>
              <a:pathLst>
                <a:path w="7315200" h="1112183">
                  <a:moveTo>
                    <a:pt x="0" y="0"/>
                  </a:moveTo>
                  <a:lnTo>
                    <a:pt x="7315200" y="0"/>
                  </a:lnTo>
                  <a:lnTo>
                    <a:pt x="7315200" y="1112183"/>
                  </a:lnTo>
                  <a:lnTo>
                    <a:pt x="0" y="11121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72" b="-6104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7315200" cy="1102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Team. Warm+</a:t>
              </a:r>
            </a:p>
            <a:p>
              <a:pPr algn="l">
                <a:lnSpc>
                  <a:spcPts val="2879"/>
                </a:lnSpc>
              </a:pPr>
              <a:endParaRPr lang="en-US" sz="2400" b="1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948940" y="8709660"/>
            <a:ext cx="6858000" cy="480060"/>
            <a:chOff x="0" y="0"/>
            <a:chExt cx="9144000" cy="640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9144000" cy="630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카카오 테크포임팩트 × 사단법인 온기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8549867" y="1858296"/>
            <a:ext cx="1188266" cy="849610"/>
          </a:xfrm>
          <a:custGeom>
            <a:avLst/>
            <a:gdLst/>
            <a:ahLst/>
            <a:cxnLst/>
            <a:rect l="l" t="t" r="r" b="b"/>
            <a:pathLst>
              <a:path w="1188266" h="849610">
                <a:moveTo>
                  <a:pt x="0" y="0"/>
                </a:moveTo>
                <a:lnTo>
                  <a:pt x="1188266" y="0"/>
                </a:lnTo>
                <a:lnTo>
                  <a:pt x="1188266" y="849610"/>
                </a:lnTo>
                <a:lnTo>
                  <a:pt x="0" y="849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2" name="Group 17">
            <a:extLst>
              <a:ext uri="{FF2B5EF4-FFF2-40B4-BE49-F238E27FC236}">
                <a16:creationId xmlns:a16="http://schemas.microsoft.com/office/drawing/2014/main" id="{8F309503-B6E7-2AA8-D456-22FB9DBC313D}"/>
              </a:ext>
            </a:extLst>
          </p:cNvPr>
          <p:cNvGrpSpPr/>
          <p:nvPr/>
        </p:nvGrpSpPr>
        <p:grpSpPr>
          <a:xfrm>
            <a:off x="2294018" y="2097594"/>
            <a:ext cx="13699964" cy="5222081"/>
            <a:chOff x="0" y="-28575"/>
            <a:chExt cx="18266619" cy="6962775"/>
          </a:xfrm>
        </p:grpSpPr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1FCBF7A9-26CB-4E63-8E24-D26A6B3295B7}"/>
                </a:ext>
              </a:extLst>
            </p:cNvPr>
            <p:cNvSpPr/>
            <p:nvPr/>
          </p:nvSpPr>
          <p:spPr>
            <a:xfrm>
              <a:off x="0" y="0"/>
              <a:ext cx="18266618" cy="6934200"/>
            </a:xfrm>
            <a:custGeom>
              <a:avLst/>
              <a:gdLst/>
              <a:ahLst/>
              <a:cxnLst/>
              <a:rect l="l" t="t" r="r" b="b"/>
              <a:pathLst>
                <a:path w="18266618" h="6934200">
                  <a:moveTo>
                    <a:pt x="0" y="0"/>
                  </a:moveTo>
                  <a:lnTo>
                    <a:pt x="18266618" y="0"/>
                  </a:lnTo>
                  <a:lnTo>
                    <a:pt x="18266618" y="6934200"/>
                  </a:lnTo>
                  <a:lnTo>
                    <a:pt x="0" y="693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5" r="9894" b="28694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" name="TextBox 19">
              <a:extLst>
                <a:ext uri="{FF2B5EF4-FFF2-40B4-BE49-F238E27FC236}">
                  <a16:creationId xmlns:a16="http://schemas.microsoft.com/office/drawing/2014/main" id="{781401FB-0FAC-BEDE-9C7B-043846356EF7}"/>
                </a:ext>
              </a:extLst>
            </p:cNvPr>
            <p:cNvSpPr txBox="1"/>
            <p:nvPr/>
          </p:nvSpPr>
          <p:spPr>
            <a:xfrm>
              <a:off x="0" y="-28575"/>
              <a:ext cx="18266619" cy="6962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0"/>
                </a:lnSpc>
              </a:pPr>
              <a:r>
                <a:rPr lang="en-US" sz="19500" dirty="0">
                  <a:solidFill>
                    <a:srgbClr val="FFF9EA"/>
                  </a:solidFill>
                  <a:latin typeface="Borsok"/>
                  <a:ea typeface="Borsok"/>
                  <a:cs typeface="Borsok"/>
                  <a:sym typeface="Borsok"/>
                </a:rPr>
                <a:t>On</a:t>
              </a:r>
              <a:r>
                <a:rPr lang="en-US" sz="19500" dirty="0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5C83A">
                          <a:alpha val="100000"/>
                        </a:srgbClr>
                      </a:gs>
                    </a:gsLst>
                    <a:lin ang="0"/>
                  </a:gradFill>
                  <a:latin typeface="Borsok"/>
                  <a:ea typeface="Borsok"/>
                  <a:cs typeface="Borsok"/>
                  <a:sym typeface="Borsok"/>
                </a:rPr>
                <a:t> </a:t>
              </a:r>
              <a:r>
                <a:rPr lang="en-US" sz="19500" dirty="0">
                  <a:solidFill>
                    <a:srgbClr val="F5C83A"/>
                  </a:solidFill>
                  <a:latin typeface="Borsok"/>
                  <a:ea typeface="Borsok"/>
                  <a:cs typeface="Borsok"/>
                  <a:sym typeface="Borsok"/>
                </a:rPr>
                <a:t>Letter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22960" y="384048"/>
            <a:ext cx="4114800" cy="384879"/>
            <a:chOff x="0" y="0"/>
            <a:chExt cx="5486400" cy="51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86400" cy="513172"/>
            </a:xfrm>
            <a:custGeom>
              <a:avLst/>
              <a:gdLst/>
              <a:ahLst/>
              <a:cxnLst/>
              <a:rect l="l" t="t" r="r" b="b"/>
              <a:pathLst>
                <a:path w="5486400" h="513172">
                  <a:moveTo>
                    <a:pt x="0" y="0"/>
                  </a:moveTo>
                  <a:lnTo>
                    <a:pt x="5486400" y="0"/>
                  </a:lnTo>
                  <a:lnTo>
                    <a:pt x="5486400" y="513172"/>
                  </a:lnTo>
                  <a:lnTo>
                    <a:pt x="0" y="5131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8425" b="-15820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5486400" cy="5226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340"/>
                </a:lnSpc>
                <a:spcBef>
                  <a:spcPct val="0"/>
                </a:spcBef>
              </a:pPr>
              <a:r>
                <a:rPr lang="en-US" sz="1950" b="1" u="none" strike="noStrik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On Letter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28971" y="384048"/>
            <a:ext cx="8229600" cy="411480"/>
            <a:chOff x="0" y="0"/>
            <a:chExt cx="10972800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REFERENCE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19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3020" y="1303020"/>
            <a:ext cx="10972800" cy="822960"/>
            <a:chOff x="0" y="0"/>
            <a:chExt cx="14630400" cy="10972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1097280"/>
            </a:xfrm>
            <a:custGeom>
              <a:avLst/>
              <a:gdLst/>
              <a:ahLst/>
              <a:cxnLst/>
              <a:rect l="l" t="t" r="r" b="b"/>
              <a:pathLst>
                <a:path w="14630400" h="109728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9800" b="-2098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463040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이 발표에 쓴 자료와 출처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3020" y="2468880"/>
            <a:ext cx="7543800" cy="6720840"/>
            <a:chOff x="0" y="0"/>
            <a:chExt cx="10058400" cy="8961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58400" cy="8961120"/>
            </a:xfrm>
            <a:custGeom>
              <a:avLst/>
              <a:gdLst/>
              <a:ahLst/>
              <a:cxnLst/>
              <a:rect l="l" t="t" r="r" b="b"/>
              <a:pathLst>
                <a:path w="10058400" h="896112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9656064" y="0"/>
                  </a:lnTo>
                  <a:cubicBezTo>
                    <a:pt x="9878314" y="0"/>
                    <a:pt x="10058400" y="180086"/>
                    <a:pt x="10058400" y="402336"/>
                  </a:cubicBezTo>
                  <a:lnTo>
                    <a:pt x="10058400" y="8558784"/>
                  </a:lnTo>
                  <a:cubicBezTo>
                    <a:pt x="10058400" y="8781034"/>
                    <a:pt x="9878314" y="8961120"/>
                    <a:pt x="9656064" y="8961120"/>
                  </a:cubicBezTo>
                  <a:lnTo>
                    <a:pt x="402336" y="8961120"/>
                  </a:lnTo>
                  <a:cubicBezTo>
                    <a:pt x="180086" y="8961120"/>
                    <a:pt x="0" y="8781034"/>
                    <a:pt x="0" y="85587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83080" y="2743200"/>
            <a:ext cx="6583680" cy="548640"/>
            <a:chOff x="0" y="0"/>
            <a:chExt cx="87782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87782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국내 통계·연구, 온기 자료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83080" y="3429000"/>
            <a:ext cx="665226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7889" lvl="1" indent="-128945" algn="l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u="none" strike="noStrik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보건복지부·국립정신건강센터 (2024.07). 2024년 국민 정신건강 지식 및 태도 조사 발표 보도자료.</a:t>
            </a:r>
          </a:p>
          <a:p>
            <a:pPr marL="257889" lvl="1" indent="-128945" algn="l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u="none" strike="noStrik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국립정신건강센터 (2024.07). 2024년 국민 정신건강 지식 및 태도 조사 결과보고서.</a:t>
            </a:r>
          </a:p>
          <a:p>
            <a:pPr marL="257889" lvl="1" indent="-128945" algn="l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u="none" strike="noStrik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박지혜, 이선혜 (2022). 청년의 정신건강 도움요청 과정과 의미에 대한 탐색 연구. 보건사회연구, 42(3), 65-94.</a:t>
            </a:r>
          </a:p>
          <a:p>
            <a:pPr marL="257889" lvl="1" indent="-128945" algn="l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u="none" strike="noStrik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한국언론진흥재단 (2025.02). 2024 소셜미디어 이용자 조사 결과 발표.</a:t>
            </a:r>
          </a:p>
          <a:p>
            <a:pPr marL="257889" lvl="1" indent="-128945" algn="l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u="none" strike="noStrik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이옥진 (2026.06). 한 사람도 외롭지 않게… 10년째 손편지로 따뜻한 위로를 배달합니다. 조선일보.</a:t>
            </a:r>
          </a:p>
          <a:p>
            <a:pPr marL="257889" lvl="1" indent="-128945" algn="l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u="none" strike="noStrik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사단법인 온기. 공식 홈페이지 ongibox.co.kr, 온기레터 아카이브 page.stibee.com/archives/195023.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64040" y="2468880"/>
            <a:ext cx="7543800" cy="6930390"/>
            <a:chOff x="0" y="0"/>
            <a:chExt cx="10058400" cy="924052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058400" cy="9240520"/>
              <a:chOff x="0" y="0"/>
              <a:chExt cx="10058400" cy="92405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058400" cy="9240520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240520">
                    <a:moveTo>
                      <a:pt x="0" y="414880"/>
                    </a:moveTo>
                    <a:cubicBezTo>
                      <a:pt x="0" y="185701"/>
                      <a:pt x="180086" y="0"/>
                      <a:pt x="402336" y="0"/>
                    </a:cubicBezTo>
                    <a:lnTo>
                      <a:pt x="9656064" y="0"/>
                    </a:lnTo>
                    <a:cubicBezTo>
                      <a:pt x="9878314" y="0"/>
                      <a:pt x="10058400" y="185701"/>
                      <a:pt x="10058400" y="414880"/>
                    </a:cubicBezTo>
                    <a:lnTo>
                      <a:pt x="10058400" y="8825640"/>
                    </a:lnTo>
                    <a:cubicBezTo>
                      <a:pt x="10058400" y="9054819"/>
                      <a:pt x="9878314" y="9240520"/>
                      <a:pt x="9656064" y="9240520"/>
                    </a:cubicBezTo>
                    <a:lnTo>
                      <a:pt x="402336" y="9240520"/>
                    </a:lnTo>
                    <a:cubicBezTo>
                      <a:pt x="180086" y="9240520"/>
                      <a:pt x="0" y="9054819"/>
                      <a:pt x="0" y="88256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0080" y="365760"/>
              <a:ext cx="8778240" cy="731520"/>
              <a:chOff x="0" y="0"/>
              <a:chExt cx="8778240" cy="73152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77824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778240" h="731520">
                    <a:moveTo>
                      <a:pt x="0" y="0"/>
                    </a:moveTo>
                    <a:lnTo>
                      <a:pt x="8778240" y="0"/>
                    </a:lnTo>
                    <a:lnTo>
                      <a:pt x="877824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183820" b="-183820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8778240" cy="7315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1">
                    <a:solidFill>
                      <a:srgbClr val="B978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해외 연구·서비스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40080" y="1280160"/>
              <a:ext cx="8869680" cy="447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Six, S. G. et al. (2021). Examining the effectiveness of gamification in mental health apps for depression. JMIR Mental Health.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Baumel, A. et al. (2019). Objective user engagement with mental health apps. Journal of Medical Internet Research, 21(9).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Kroenke, K. et al. (2003). The Patient Health Questionnaire-2. Medical Care.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Horowitz, L. M. et al. (2020). Validation of the Ask Suicide-Screening Questions. Psychosomatics.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Deady, M. et al. (2022). Preventing depression using a smartphone app: a randomized controlled trial. Psychological Medicine, 52(3).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Carver, C. S. (1997). Brief COPE. International Journal of Behavioral Medicine, 4(1).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Topp, C. W. et al. (2015). The WHO-5 Well-Being Index. Psychotherapy and Psychosomatics, 84(3).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Rosenberg, M. (1965). Society and the Adolescent Self-Image. Princeton University Press.</a:t>
              </a:r>
            </a:p>
            <a:p>
              <a:pPr marL="257889" lvl="1" indent="-128945" algn="l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u="none" strike="noStrik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Finch · 마인드카페 · 트로스트 공식 서비스 소개 (2026.9 확인).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" y="0"/>
            <a:ext cx="18301840" cy="10295039"/>
            <a:chOff x="0" y="0"/>
            <a:chExt cx="24402453" cy="13726719"/>
          </a:xfrm>
        </p:grpSpPr>
        <p:sp>
          <p:nvSpPr>
            <p:cNvPr id="3" name="Freeform 3" descr="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3608" y="464468"/>
            <a:ext cx="4118019" cy="32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4"/>
              </a:lnSpc>
              <a:spcBef>
                <a:spcPct val="0"/>
              </a:spcBef>
            </a:pPr>
            <a:r>
              <a:rPr lang="en-US" sz="1801" b="1" u="none" strike="noStrik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259366" y="1047750"/>
            <a:ext cx="1784471" cy="494162"/>
            <a:chOff x="0" y="0"/>
            <a:chExt cx="2379294" cy="658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 u="none" strike="noStrik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8137" y="1466850"/>
            <a:ext cx="16101451" cy="86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7"/>
              </a:lnSpc>
              <a:spcBef>
                <a:spcPct val="0"/>
              </a:spcBef>
            </a:pPr>
            <a:r>
              <a:rPr lang="en-US" sz="4803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유스케이스 다이어그램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A1</a:t>
              </a:r>
            </a:p>
          </p:txBody>
        </p:sp>
      </p:grpSp>
      <p:sp>
        <p:nvSpPr>
          <p:cNvPr id="15" name="Freeform 15" descr="유스케이스 다이어그램: 사용자가 할 수 있는 기능과 위기 감지 시 도움 기관 안내"/>
          <p:cNvSpPr/>
          <p:nvPr/>
        </p:nvSpPr>
        <p:spPr>
          <a:xfrm>
            <a:off x="3230404" y="2714625"/>
            <a:ext cx="11827193" cy="7096125"/>
          </a:xfrm>
          <a:custGeom>
            <a:avLst/>
            <a:gdLst/>
            <a:ahLst/>
            <a:cxnLst/>
            <a:rect l="l" t="t" r="r" b="b"/>
            <a:pathLst>
              <a:path w="11827193" h="7096125">
                <a:moveTo>
                  <a:pt x="0" y="0"/>
                </a:moveTo>
                <a:lnTo>
                  <a:pt x="11827192" y="0"/>
                </a:lnTo>
                <a:lnTo>
                  <a:pt x="11827192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" b="-1"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3608" y="464468"/>
            <a:ext cx="4118019" cy="32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4"/>
              </a:lnSpc>
              <a:spcBef>
                <a:spcPct val="0"/>
              </a:spcBef>
            </a:pPr>
            <a:r>
              <a:rPr lang="en-US" sz="1801" b="1" u="none" strike="noStrik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259366" y="1047750"/>
            <a:ext cx="1784471" cy="494162"/>
            <a:chOff x="0" y="0"/>
            <a:chExt cx="2379294" cy="658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 u="none" strike="noStrik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8137" y="1466850"/>
            <a:ext cx="16101451" cy="86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7"/>
              </a:lnSpc>
              <a:spcBef>
                <a:spcPct val="0"/>
              </a:spcBef>
            </a:pPr>
            <a:r>
              <a:rPr lang="en-US" sz="4803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오목이 대화 처리 시퀀스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A2</a:t>
              </a:r>
            </a:p>
          </p:txBody>
        </p:sp>
      </p:grpSp>
      <p:sp>
        <p:nvSpPr>
          <p:cNvPr id="15" name="Freeform 15" descr="오목이 대화 처리 시퀀스 다이어그램: 검증, 위기 감지 분기, LLM 스트리밍, 기기 저장"/>
          <p:cNvSpPr/>
          <p:nvPr/>
        </p:nvSpPr>
        <p:spPr>
          <a:xfrm>
            <a:off x="3453765" y="2714625"/>
            <a:ext cx="11380470" cy="7096125"/>
          </a:xfrm>
          <a:custGeom>
            <a:avLst/>
            <a:gdLst/>
            <a:ahLst/>
            <a:cxnLst/>
            <a:rect l="l" t="t" r="r" b="b"/>
            <a:pathLst>
              <a:path w="11380470" h="7096125">
                <a:moveTo>
                  <a:pt x="0" y="0"/>
                </a:moveTo>
                <a:lnTo>
                  <a:pt x="11380470" y="0"/>
                </a:lnTo>
                <a:lnTo>
                  <a:pt x="11380470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" r="-83"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3608" y="464468"/>
            <a:ext cx="4118019" cy="32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4"/>
              </a:lnSpc>
              <a:spcBef>
                <a:spcPct val="0"/>
              </a:spcBef>
            </a:pPr>
            <a:r>
              <a:rPr lang="en-US" sz="1801" b="1" u="none" strike="noStrik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259366" y="1047750"/>
            <a:ext cx="1784471" cy="494162"/>
            <a:chOff x="0" y="0"/>
            <a:chExt cx="2379294" cy="658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 u="none" strike="noStrik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3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8137" y="1466850"/>
            <a:ext cx="16101451" cy="86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7"/>
              </a:lnSpc>
              <a:spcBef>
                <a:spcPct val="0"/>
              </a:spcBef>
            </a:pPr>
            <a:r>
              <a:rPr lang="en-US" sz="4803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전체 알고리즘 플로 차트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A3</a:t>
              </a:r>
            </a:p>
          </p:txBody>
        </p:sp>
      </p:grpSp>
      <p:sp>
        <p:nvSpPr>
          <p:cNvPr id="15" name="Freeform 15" descr="전체 알고리즘 플로 차트: 첫 방문부터 먼저 도착한 편지, 5탭, 대화·위기 감지, 온기우편함 연결까지"/>
          <p:cNvSpPr/>
          <p:nvPr/>
        </p:nvSpPr>
        <p:spPr>
          <a:xfrm>
            <a:off x="4279582" y="2714625"/>
            <a:ext cx="9728835" cy="7096125"/>
          </a:xfrm>
          <a:custGeom>
            <a:avLst/>
            <a:gdLst/>
            <a:ahLst/>
            <a:cxnLst/>
            <a:rect l="l" t="t" r="r" b="b"/>
            <a:pathLst>
              <a:path w="9728835" h="7096125">
                <a:moveTo>
                  <a:pt x="0" y="0"/>
                </a:moveTo>
                <a:lnTo>
                  <a:pt x="9728836" y="0"/>
                </a:lnTo>
                <a:lnTo>
                  <a:pt x="9728836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" r="-43"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3608" y="464468"/>
            <a:ext cx="4118019" cy="32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4"/>
              </a:lnSpc>
              <a:spcBef>
                <a:spcPct val="0"/>
              </a:spcBef>
            </a:pPr>
            <a:r>
              <a:rPr lang="en-US" sz="1801" b="1" u="none" strike="noStrik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259366" y="1047750"/>
            <a:ext cx="1784471" cy="494162"/>
            <a:chOff x="0" y="0"/>
            <a:chExt cx="2379294" cy="658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9345" cy="658870"/>
            </a:xfrm>
            <a:custGeom>
              <a:avLst/>
              <a:gdLst/>
              <a:ahLst/>
              <a:cxnLst/>
              <a:rect l="l" t="t" r="r" b="b"/>
              <a:pathLst>
                <a:path w="2379345" h="658870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41"/>
                </a:lnSpc>
                <a:spcBef>
                  <a:spcPct val="0"/>
                </a:spcBef>
              </a:pPr>
              <a:r>
                <a:rPr lang="en-US" sz="1951" b="1" u="none" strike="noStrik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8137" y="1466850"/>
            <a:ext cx="16101451" cy="86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7"/>
              </a:lnSpc>
              <a:spcBef>
                <a:spcPct val="0"/>
              </a:spcBef>
            </a:pPr>
            <a:r>
              <a:rPr lang="en-US" sz="4803" b="1" u="none" strike="noStrik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추진 일정 · 역할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818663" y="411480"/>
            <a:ext cx="1645920" cy="384048"/>
            <a:chOff x="0" y="0"/>
            <a:chExt cx="219456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" cy="512064"/>
            </a:xfrm>
            <a:custGeom>
              <a:avLst/>
              <a:gdLst/>
              <a:ahLst/>
              <a:cxnLst/>
              <a:rect l="l" t="t" r="r" b="b"/>
              <a:pathLst>
                <a:path w="2194560" h="512064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41623" y="9710928"/>
            <a:ext cx="822960" cy="342900"/>
            <a:chOff x="0" y="0"/>
            <a:chExt cx="1097280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7280" cy="457200"/>
            </a:xfrm>
            <a:custGeom>
              <a:avLst/>
              <a:gdLst/>
              <a:ahLst/>
              <a:cxnLst/>
              <a:rect l="l" t="t" r="r" b="b"/>
              <a:pathLst>
                <a:path w="1097280" h="45720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709"/>
                </a:lnSpc>
                <a:spcBef>
                  <a:spcPct val="0"/>
                </a:spcBef>
              </a:pPr>
              <a:r>
                <a:rPr lang="en-US" sz="1425" u="none" strike="no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A4</a:t>
              </a:r>
            </a:p>
          </p:txBody>
        </p:sp>
      </p:grpSp>
      <p:sp>
        <p:nvSpPr>
          <p:cNvPr id="15" name="Freeform 15" descr="추진일정 간트차트: 9월 기획부터 12월 최종 발표까지 세부 작업 일정"/>
          <p:cNvSpPr/>
          <p:nvPr/>
        </p:nvSpPr>
        <p:spPr>
          <a:xfrm>
            <a:off x="1095375" y="2762250"/>
            <a:ext cx="16097250" cy="7052310"/>
          </a:xfrm>
          <a:custGeom>
            <a:avLst/>
            <a:gdLst/>
            <a:ahLst/>
            <a:cxnLst/>
            <a:rect l="l" t="t" r="r" b="b"/>
            <a:pathLst>
              <a:path w="16097250" h="7052310">
                <a:moveTo>
                  <a:pt x="0" y="0"/>
                </a:moveTo>
                <a:lnTo>
                  <a:pt x="16097250" y="0"/>
                </a:lnTo>
                <a:lnTo>
                  <a:pt x="16097250" y="7052310"/>
                </a:lnTo>
                <a:lnTo>
                  <a:pt x="0" y="7052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" r="-69"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3875</Words>
  <Application>Microsoft Office PowerPoint</Application>
  <PresentationFormat>사용자 지정</PresentationFormat>
  <Paragraphs>528</Paragraphs>
  <Slides>23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Noto Sans Bold</vt:lpstr>
      <vt:lpstr>Arimo Bold</vt:lpstr>
      <vt:lpstr>Borsok</vt:lpstr>
      <vt:lpstr>Jua</vt:lpstr>
      <vt:lpstr>Noto Sans</vt:lpstr>
      <vt:lpstr>Arial</vt:lpstr>
      <vt:lpstr>Arimo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온기_v3.pptx</dc:title>
  <cp:lastModifiedBy>박현준/통계학과(2022110461)</cp:lastModifiedBy>
  <cp:revision>2</cp:revision>
  <dcterms:created xsi:type="dcterms:W3CDTF">2006-08-16T00:00:00Z</dcterms:created>
  <dcterms:modified xsi:type="dcterms:W3CDTF">2026-10-01T00:33:07Z</dcterms:modified>
  <dc:identifier>DAHWgJjEnYE</dc:identifier>
</cp:coreProperties>
</file>